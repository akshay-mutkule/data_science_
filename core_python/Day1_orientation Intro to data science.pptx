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32"/>
  </p:notesMasterIdLst>
  <p:sldIdLst>
    <p:sldId id="256" r:id="rId2"/>
    <p:sldId id="307" r:id="rId3"/>
    <p:sldId id="308" r:id="rId4"/>
    <p:sldId id="309" r:id="rId5"/>
    <p:sldId id="312" r:id="rId6"/>
    <p:sldId id="279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2" r:id="rId15"/>
    <p:sldId id="323" r:id="rId16"/>
    <p:sldId id="324" r:id="rId17"/>
    <p:sldId id="325" r:id="rId18"/>
    <p:sldId id="339" r:id="rId19"/>
    <p:sldId id="340" r:id="rId20"/>
    <p:sldId id="343" r:id="rId21"/>
    <p:sldId id="344" r:id="rId22"/>
    <p:sldId id="346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293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ENOVO\Documents\food_delivery_toy_datase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400"/>
            </a:pPr>
            <a:r>
              <a:rPr lang="en-US" sz="2400"/>
              <a:t>Delivery</a:t>
            </a:r>
            <a:r>
              <a:rPr lang="en-US" sz="2400" baseline="0"/>
              <a:t> Performance Analysis</a:t>
            </a:r>
            <a:endParaRPr lang="en-US" sz="2400"/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Sheet4!$J$1</c:f>
              <c:strCache>
                <c:ptCount val="1"/>
                <c:pt idx="0">
                  <c:v>Delivery time</c:v>
                </c:pt>
              </c:strCache>
            </c:strRef>
          </c:tx>
          <c:spPr>
            <a:ln w="41275"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Sheet4!$J$2:$J$13</c:f>
              <c:numCache>
                <c:formatCode>General</c:formatCode>
                <c:ptCount val="12"/>
                <c:pt idx="0">
                  <c:v>35</c:v>
                </c:pt>
                <c:pt idx="1">
                  <c:v>25</c:v>
                </c:pt>
                <c:pt idx="2">
                  <c:v>23</c:v>
                </c:pt>
                <c:pt idx="3">
                  <c:v>35</c:v>
                </c:pt>
                <c:pt idx="4">
                  <c:v>35</c:v>
                </c:pt>
                <c:pt idx="5">
                  <c:v>35</c:v>
                </c:pt>
                <c:pt idx="6">
                  <c:v>30</c:v>
                </c:pt>
                <c:pt idx="7">
                  <c:v>25</c:v>
                </c:pt>
                <c:pt idx="8">
                  <c:v>40</c:v>
                </c:pt>
                <c:pt idx="9">
                  <c:v>35</c:v>
                </c:pt>
                <c:pt idx="10">
                  <c:v>22</c:v>
                </c:pt>
                <c:pt idx="11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BD-4FF3-AF41-B0C735E4DFAB}"/>
            </c:ext>
          </c:extLst>
        </c:ser>
        <c:ser>
          <c:idx val="1"/>
          <c:order val="1"/>
          <c:tx>
            <c:strRef>
              <c:f>Sheet4!$K$1</c:f>
              <c:strCache>
                <c:ptCount val="1"/>
                <c:pt idx="0">
                  <c:v>Rating</c:v>
                </c:pt>
              </c:strCache>
            </c:strRef>
          </c:tx>
          <c:spPr>
            <a:ln w="41275"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Sheet4!$K$2:$K$13</c:f>
              <c:numCache>
                <c:formatCode>General</c:formatCode>
                <c:ptCount val="12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  <c:pt idx="5">
                  <c:v>5</c:v>
                </c:pt>
                <c:pt idx="6">
                  <c:v>4</c:v>
                </c:pt>
                <c:pt idx="7">
                  <c:v>4</c:v>
                </c:pt>
                <c:pt idx="8">
                  <c:v>2</c:v>
                </c:pt>
                <c:pt idx="9">
                  <c:v>2</c:v>
                </c:pt>
                <c:pt idx="10">
                  <c:v>4</c:v>
                </c:pt>
                <c:pt idx="11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CBD-4FF3-AF41-B0C735E4DF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429952"/>
        <c:axId val="74431488"/>
      </c:lineChart>
      <c:catAx>
        <c:axId val="74429952"/>
        <c:scaling>
          <c:orientation val="minMax"/>
        </c:scaling>
        <c:delete val="0"/>
        <c:axPos val="b"/>
        <c:majorTickMark val="none"/>
        <c:minorTickMark val="none"/>
        <c:tickLblPos val="nextTo"/>
        <c:crossAx val="74431488"/>
        <c:crosses val="autoZero"/>
        <c:auto val="1"/>
        <c:lblAlgn val="ctr"/>
        <c:lblOffset val="100"/>
        <c:noMultiLvlLbl val="0"/>
      </c:catAx>
      <c:valAx>
        <c:axId val="74431488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74429952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gap"/>
    <c:showDLblsOverMax val="0"/>
  </c:chart>
  <c:spPr>
    <a:noFill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87840-61B5-49C7-9A1A-9B0275526DF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69660-1B97-4DB9-B23F-B87BEBAC4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849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skervville"/>
              <a:buChar char="-"/>
            </a:pPr>
            <a:r>
              <a:rPr lang="en-US" sz="1000" dirty="0">
                <a:latin typeface="Baskervville"/>
                <a:ea typeface="Baskervville"/>
                <a:cs typeface="Baskervville"/>
                <a:sym typeface="Baskervville"/>
              </a:rPr>
              <a:t>keep your zoom client on mute while the session is going on</a:t>
            </a:r>
            <a:endParaRPr sz="1000" dirty="0">
              <a:latin typeface="Baskervville"/>
              <a:ea typeface="Baskervville"/>
              <a:cs typeface="Baskervville"/>
              <a:sym typeface="Baskervville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skervville"/>
              <a:buChar char="-"/>
            </a:pPr>
            <a:r>
              <a:rPr lang="en-US" sz="1000" dirty="0">
                <a:latin typeface="Baskervville"/>
                <a:ea typeface="Baskervville"/>
                <a:cs typeface="Baskervville"/>
                <a:sym typeface="Baskervville"/>
              </a:rPr>
              <a:t>raise your hand or drop a message on the chat window to interact with the instructor or ask questions</a:t>
            </a:r>
            <a:endParaRPr sz="1000" dirty="0">
              <a:latin typeface="Baskervville"/>
              <a:ea typeface="Baskervville"/>
              <a:cs typeface="Baskervville"/>
              <a:sym typeface="Baskervville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skervville"/>
              <a:buChar char="-"/>
            </a:pPr>
            <a:r>
              <a:rPr lang="en-US" sz="1000" dirty="0">
                <a:latin typeface="Baskervville"/>
                <a:ea typeface="Baskervville"/>
                <a:cs typeface="Baskervville"/>
                <a:sym typeface="Baskervville"/>
              </a:rPr>
              <a:t>respect other attendees time</a:t>
            </a:r>
            <a:endParaRPr sz="1000" dirty="0">
              <a:latin typeface="Baskervville"/>
              <a:ea typeface="Baskervville"/>
              <a:cs typeface="Baskervville"/>
              <a:sym typeface="Baskervvill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00" dirty="0"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bab08d322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2bab08d322b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2bab08d322b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2" name="Google Shape;3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bab08d322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bab08d322b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bab08d322b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15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bab08d322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bab08d322b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bab08d322b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16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bab08d322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bab08d322b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bab08d322b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17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2" name="Google Shape;3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ba64d7aa66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2ba64d7aa66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g2ba64d7aa66_0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19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9" name="Google Shape;35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6" name="Google Shape;37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9" name="Google Shape;39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8" name="Google Shape;44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9" name="Google Shape;45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4" name="Google Shape;46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9" name="Google Shape;46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4" name="Google Shape;47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C94F-22E8-40A3-B2E9-A3DF6A84613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DE84-E5C2-4298-A8D3-3F161BA98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63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C94F-22E8-40A3-B2E9-A3DF6A84613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DE84-E5C2-4298-A8D3-3F161BA98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55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C94F-22E8-40A3-B2E9-A3DF6A84613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DE84-E5C2-4298-A8D3-3F161BA98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41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C94F-22E8-40A3-B2E9-A3DF6A84613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DE84-E5C2-4298-A8D3-3F161BA98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1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C94F-22E8-40A3-B2E9-A3DF6A84613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DE84-E5C2-4298-A8D3-3F161BA98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44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C94F-22E8-40A3-B2E9-A3DF6A84613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DE84-E5C2-4298-A8D3-3F161BA98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79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C94F-22E8-40A3-B2E9-A3DF6A84613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DE84-E5C2-4298-A8D3-3F161BA98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62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C94F-22E8-40A3-B2E9-A3DF6A84613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DE84-E5C2-4298-A8D3-3F161BA98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46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C94F-22E8-40A3-B2E9-A3DF6A84613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DE84-E5C2-4298-A8D3-3F161BA98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65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C94F-22E8-40A3-B2E9-A3DF6A84613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DE84-E5C2-4298-A8D3-3F161BA98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26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C94F-22E8-40A3-B2E9-A3DF6A84613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DE84-E5C2-4298-A8D3-3F161BA9849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2406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C94F-22E8-40A3-B2E9-A3DF6A84613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DE84-E5C2-4298-A8D3-3F161BA98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115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C94F-22E8-40A3-B2E9-A3DF6A84613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DE84-E5C2-4298-A8D3-3F161BA9849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4584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C94F-22E8-40A3-B2E9-A3DF6A84613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DE84-E5C2-4298-A8D3-3F161BA98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18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C94F-22E8-40A3-B2E9-A3DF6A84613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DE84-E5C2-4298-A8D3-3F161BA98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090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C94F-22E8-40A3-B2E9-A3DF6A84613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DE84-E5C2-4298-A8D3-3F161BA98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282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 txBox="1">
            <a:spLocks noGrp="1"/>
          </p:cNvSpPr>
          <p:nvPr>
            <p:ph type="title"/>
          </p:nvPr>
        </p:nvSpPr>
        <p:spPr>
          <a:xfrm>
            <a:off x="0" y="200177"/>
            <a:ext cx="12192000" cy="775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 b="1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2"/>
          <p:cNvSpPr/>
          <p:nvPr/>
        </p:nvSpPr>
        <p:spPr>
          <a:xfrm>
            <a:off x="0" y="6597352"/>
            <a:ext cx="12192000" cy="26064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2"/>
          <p:cNvSpPr txBox="1">
            <a:spLocks noGrp="1"/>
          </p:cNvSpPr>
          <p:nvPr>
            <p:ph type="body" idx="1"/>
          </p:nvPr>
        </p:nvSpPr>
        <p:spPr>
          <a:xfrm>
            <a:off x="0" y="1005381"/>
            <a:ext cx="12192000" cy="4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Calibri"/>
              <a:buNone/>
              <a:defRPr sz="2400" b="0">
                <a:solidFill>
                  <a:srgbClr val="595959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94441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3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6267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3C94F-22E8-40A3-B2E9-A3DF6A84613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C0DDE84-E5C2-4298-A8D3-3F161BA98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50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>
            <a:spLocks noGrp="1"/>
          </p:cNvSpPr>
          <p:nvPr>
            <p:ph type="ctrTitle"/>
          </p:nvPr>
        </p:nvSpPr>
        <p:spPr>
          <a:xfrm>
            <a:off x="1524003" y="2405969"/>
            <a:ext cx="9144000" cy="18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br>
              <a:rPr lang="en-US" sz="5400" dirty="0"/>
            </a:br>
            <a:br>
              <a:rPr lang="en-US" sz="5400" dirty="0"/>
            </a:br>
            <a:br>
              <a:rPr lang="en-US" sz="5400" dirty="0"/>
            </a:br>
            <a:br>
              <a:rPr lang="en-US" sz="5400" dirty="0"/>
            </a:br>
            <a:br>
              <a:rPr lang="en-US" sz="5400" dirty="0"/>
            </a:br>
            <a:br>
              <a:rPr lang="en-US" sz="5400" dirty="0"/>
            </a:br>
            <a:br>
              <a:rPr lang="en-US" sz="5400" dirty="0"/>
            </a:br>
            <a:br>
              <a:rPr lang="en-US" sz="5400" dirty="0"/>
            </a:br>
            <a:br>
              <a:rPr lang="en-US" sz="5400" dirty="0"/>
            </a:br>
            <a:r>
              <a:rPr lang="en-US" sz="5400" dirty="0">
                <a:latin typeface="Libre Baskerville"/>
                <a:ea typeface="Libre Baskerville"/>
                <a:cs typeface="Libre Baskerville"/>
                <a:sym typeface="Libre Baskerville"/>
              </a:rPr>
              <a:t>Welcomes You </a:t>
            </a:r>
            <a:br>
              <a:rPr lang="en-US" sz="5400" dirty="0">
                <a:latin typeface="Libre Baskerville"/>
                <a:ea typeface="Libre Baskerville"/>
                <a:cs typeface="Libre Baskerville"/>
                <a:sym typeface="Libre Baskerville"/>
              </a:rPr>
            </a:br>
            <a:endParaRPr sz="5400" dirty="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1766266" y="3947725"/>
            <a:ext cx="8427600" cy="1758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en-US" sz="4000" b="1" dirty="0">
                <a:latin typeface="Libre Baskerville"/>
                <a:ea typeface="Libre Baskerville"/>
                <a:cs typeface="Libre Baskerville"/>
                <a:sym typeface="Libre Baskerville"/>
              </a:rPr>
              <a:t>Data Analysis and AI </a:t>
            </a:r>
          </a:p>
          <a:p>
            <a:pPr marL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en-US" sz="4000" b="1" dirty="0">
                <a:latin typeface="Libre Baskerville"/>
                <a:ea typeface="Libre Baskerville"/>
                <a:cs typeface="Libre Baskerville"/>
                <a:sym typeface="Libre Baskerville"/>
              </a:rPr>
              <a:t>Orientation</a:t>
            </a:r>
            <a:endParaRPr sz="4000" dirty="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838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askervville"/>
              <a:buNone/>
            </a:pPr>
            <a:r>
              <a:rPr lang="en-US" b="1" dirty="0"/>
              <a:t>Introduction</a:t>
            </a:r>
            <a:endParaRPr b="1"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body" idx="1"/>
          </p:nvPr>
        </p:nvSpPr>
        <p:spPr>
          <a:xfrm>
            <a:off x="697522" y="1108172"/>
            <a:ext cx="11016423" cy="547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2400" b="1" dirty="0">
                <a:latin typeface="Calibri" pitchFamily="34" charset="0"/>
                <a:cs typeface="Calibri" pitchFamily="34" charset="0"/>
              </a:rPr>
              <a:t>Prasad Charate</a:t>
            </a:r>
          </a:p>
          <a:p>
            <a:pPr marL="114300" indent="0">
              <a:buNone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114300" indent="0">
              <a:buNone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Worked as a Jr. Data Scientist with 3+ years of experience in Data Science, Machine Learning, and Analytics.</a:t>
            </a:r>
            <a:br>
              <a:rPr lang="en-US" sz="2400" dirty="0">
                <a:latin typeface="Calibri" pitchFamily="34" charset="0"/>
                <a:cs typeface="Calibri" pitchFamily="34" charset="0"/>
              </a:rPr>
            </a:b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114300" indent="0">
              <a:buNone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Hands-on expertise in Deep Learning, NLP, Computer Vision, and Power BI dashboard development.</a:t>
            </a:r>
            <a:br>
              <a:rPr lang="en-US" sz="2400" dirty="0">
                <a:latin typeface="Calibri" pitchFamily="34" charset="0"/>
                <a:cs typeface="Calibri" pitchFamily="34" charset="0"/>
              </a:rPr>
            </a:b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114300" indent="0">
              <a:buNone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Proven ability in training and mentoring students and professionals in real-world Data Science applications for more then 3+ years +1 year in freelance mentoring . </a:t>
            </a:r>
            <a:endParaRPr lang="en-GB" sz="24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375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838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askervville"/>
              <a:buNone/>
            </a:pPr>
            <a:r>
              <a:rPr lang="en-US" sz="4000" b="1" dirty="0"/>
              <a:t>Agenda</a:t>
            </a:r>
            <a:endParaRPr b="1"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body" idx="1"/>
          </p:nvPr>
        </p:nvSpPr>
        <p:spPr>
          <a:xfrm>
            <a:off x="697523" y="800164"/>
            <a:ext cx="10781714" cy="5180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None/>
            </a:pPr>
            <a:endParaRPr lang="en-US" b="1" dirty="0"/>
          </a:p>
          <a:p>
            <a:pPr lvl="0"/>
            <a:r>
              <a:rPr lang="en-US" b="1" dirty="0"/>
              <a:t>Our Journey So Far</a:t>
            </a:r>
          </a:p>
          <a:p>
            <a:pPr lvl="0"/>
            <a:r>
              <a:rPr lang="en-US" b="1" dirty="0"/>
              <a:t>Data and Its Importance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skervville"/>
              <a:buChar char="•"/>
            </a:pPr>
            <a:r>
              <a:rPr lang="en-US" b="1" dirty="0"/>
              <a:t>Data Analysis Project Life Cycle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skervville"/>
              <a:buChar char="•"/>
            </a:pPr>
            <a:r>
              <a:rPr lang="en-US" b="1" dirty="0"/>
              <a:t>Real-time Case Study Example 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skervville"/>
              <a:buChar char="•"/>
            </a:pPr>
            <a:r>
              <a:rPr lang="en-US" b="1" dirty="0"/>
              <a:t>Data Science Application 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skervville"/>
              <a:buChar char="•"/>
            </a:pPr>
            <a:r>
              <a:rPr lang="en-US" b="1" dirty="0"/>
              <a:t>Job Opportunities in Data Analysis / Data Scientist 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skervville"/>
              <a:buChar char="•"/>
            </a:pPr>
            <a:r>
              <a:rPr lang="en-US" b="1" dirty="0"/>
              <a:t>Market Trends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skervville"/>
              <a:buChar char="•"/>
            </a:pPr>
            <a:r>
              <a:rPr lang="en-US" b="1" dirty="0"/>
              <a:t>Required Skills to be a Data Analyst / Data Scientist 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skervville"/>
              <a:buChar char="•"/>
            </a:pPr>
            <a:r>
              <a:rPr lang="en-US" b="1" dirty="0"/>
              <a:t>Mapping to DA/DS Curriculum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467139" y="-16744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US" b="1" dirty="0">
                <a:solidFill>
                  <a:srgbClr val="C00000"/>
                </a:solidFill>
              </a:rPr>
              <a:t>GROUND RULES</a:t>
            </a:r>
            <a:endParaRPr b="1" dirty="0"/>
          </a:p>
        </p:txBody>
      </p:sp>
      <p:grpSp>
        <p:nvGrpSpPr>
          <p:cNvPr id="107" name="Google Shape;107;p3"/>
          <p:cNvGrpSpPr/>
          <p:nvPr/>
        </p:nvGrpSpPr>
        <p:grpSpPr>
          <a:xfrm>
            <a:off x="-5757577" y="125156"/>
            <a:ext cx="16566124" cy="7293600"/>
            <a:chOff x="-6126981" y="-937410"/>
            <a:chExt cx="16566124" cy="7293600"/>
          </a:xfrm>
        </p:grpSpPr>
        <p:sp>
          <p:nvSpPr>
            <p:cNvPr id="108" name="Google Shape;108;p3"/>
            <p:cNvSpPr/>
            <p:nvPr/>
          </p:nvSpPr>
          <p:spPr>
            <a:xfrm>
              <a:off x="-6126981" y="-937410"/>
              <a:ext cx="7293600" cy="7293600"/>
            </a:xfrm>
            <a:prstGeom prst="blockArc">
              <a:avLst>
                <a:gd name="adj1" fmla="val 18900000"/>
                <a:gd name="adj2" fmla="val 2700000"/>
                <a:gd name="adj3" fmla="val 296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509717" y="338558"/>
              <a:ext cx="9929400" cy="677700"/>
            </a:xfrm>
            <a:prstGeom prst="rect">
              <a:avLst/>
            </a:prstGeom>
            <a:gradFill>
              <a:gsLst>
                <a:gs pos="0">
                  <a:srgbClr val="EA6A14"/>
                </a:gs>
                <a:gs pos="23000">
                  <a:srgbClr val="EA6A14"/>
                </a:gs>
                <a:gs pos="69000">
                  <a:srgbClr val="C55A11"/>
                </a:gs>
                <a:gs pos="97000">
                  <a:srgbClr val="B85410"/>
                </a:gs>
                <a:gs pos="100000">
                  <a:srgbClr val="B85410"/>
                </a:gs>
              </a:gsLst>
              <a:path path="circle">
                <a:fillToRect l="50000" t="50000" r="50000" b="50000"/>
              </a:path>
              <a:tileRect/>
            </a:gra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endParaRPr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509717" y="338558"/>
              <a:ext cx="9929400" cy="6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7800" tIns="60950" rIns="60950" bIns="609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Libre Baskerville"/>
                <a:buNone/>
              </a:pPr>
              <a:r>
                <a:rPr lang="en-US" sz="2000" b="0" i="0" u="none" strike="noStrike" cap="none" dirty="0">
                  <a:solidFill>
                    <a:schemeClr val="lt1"/>
                  </a:solidFill>
                  <a:latin typeface="Baskervville"/>
                  <a:ea typeface="Baskervville"/>
                  <a:cs typeface="Baskervville"/>
                  <a:sym typeface="Baskervville"/>
                </a:rPr>
                <a:t>Listen actively and attentively</a:t>
              </a:r>
              <a:endParaRPr sz="2000" b="0" i="0" u="none" strike="noStrike" cap="none" dirty="0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86248" y="253864"/>
              <a:ext cx="846900" cy="8469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995230" y="1354558"/>
              <a:ext cx="9443700" cy="677700"/>
            </a:xfrm>
            <a:prstGeom prst="rect">
              <a:avLst/>
            </a:prstGeom>
            <a:gradFill>
              <a:gsLst>
                <a:gs pos="0">
                  <a:srgbClr val="EA6A14"/>
                </a:gs>
                <a:gs pos="23000">
                  <a:srgbClr val="EA6A14"/>
                </a:gs>
                <a:gs pos="42000">
                  <a:srgbClr val="DB6413"/>
                </a:gs>
                <a:gs pos="69000">
                  <a:srgbClr val="C55A11"/>
                </a:gs>
                <a:gs pos="97000">
                  <a:srgbClr val="B85410"/>
                </a:gs>
                <a:gs pos="100000">
                  <a:srgbClr val="B85410"/>
                </a:gs>
              </a:gsLst>
              <a:path path="circle">
                <a:fillToRect l="50000" t="50000" r="50000" b="50000"/>
              </a:path>
              <a:tileRect/>
            </a:gra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endParaRPr>
            </a:p>
          </p:txBody>
        </p:sp>
        <p:sp>
          <p:nvSpPr>
            <p:cNvPr id="113" name="Google Shape;113;p3"/>
            <p:cNvSpPr txBox="1"/>
            <p:nvPr/>
          </p:nvSpPr>
          <p:spPr>
            <a:xfrm>
              <a:off x="995230" y="1354558"/>
              <a:ext cx="9443700" cy="6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7800" tIns="60950" rIns="60950" bIns="609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Libre Baskerville"/>
                <a:buNone/>
              </a:pPr>
              <a:r>
                <a:rPr lang="en-US" sz="2000" b="0" i="0" u="none" strike="noStrike" cap="none" dirty="0">
                  <a:solidFill>
                    <a:schemeClr val="lt1"/>
                  </a:solidFill>
                  <a:latin typeface="Baskervville"/>
                  <a:ea typeface="Baskervville"/>
                  <a:cs typeface="Baskervville"/>
                  <a:sym typeface="Baskervville"/>
                </a:rPr>
                <a:t>Be on mute while the session is going on</a:t>
              </a:r>
              <a:endParaRPr sz="2000" b="0" i="0" u="none" strike="noStrike" cap="none" dirty="0">
                <a:solidFill>
                  <a:schemeClr val="lt1"/>
                </a:solidFill>
                <a:latin typeface="Baskervville"/>
                <a:ea typeface="Baskervville"/>
                <a:cs typeface="Baskervville"/>
                <a:sym typeface="Baskervville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571761" y="1269864"/>
              <a:ext cx="846900" cy="8469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1144243" y="2370558"/>
              <a:ext cx="9294900" cy="677700"/>
            </a:xfrm>
            <a:prstGeom prst="rect">
              <a:avLst/>
            </a:prstGeom>
            <a:gradFill>
              <a:gsLst>
                <a:gs pos="0">
                  <a:srgbClr val="EA6A14"/>
                </a:gs>
                <a:gs pos="23000">
                  <a:srgbClr val="EA6A14"/>
                </a:gs>
                <a:gs pos="42000">
                  <a:srgbClr val="DB6413"/>
                </a:gs>
                <a:gs pos="69000">
                  <a:srgbClr val="C55A11"/>
                </a:gs>
                <a:gs pos="97000">
                  <a:srgbClr val="B85410"/>
                </a:gs>
                <a:gs pos="100000">
                  <a:srgbClr val="B85410"/>
                </a:gs>
              </a:gsLst>
              <a:path path="circle">
                <a:fillToRect l="50000" t="50000" r="50000" b="50000"/>
              </a:path>
              <a:tileRect/>
            </a:gra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endParaRPr>
            </a:p>
          </p:txBody>
        </p:sp>
        <p:sp>
          <p:nvSpPr>
            <p:cNvPr id="116" name="Google Shape;116;p3"/>
            <p:cNvSpPr txBox="1"/>
            <p:nvPr/>
          </p:nvSpPr>
          <p:spPr>
            <a:xfrm>
              <a:off x="1144243" y="2370558"/>
              <a:ext cx="9294900" cy="6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7800" tIns="60950" rIns="60950" bIns="609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Libre Baskerville"/>
                <a:buNone/>
              </a:pPr>
              <a:r>
                <a:rPr lang="en-US" sz="2000" b="0" i="0" u="none" strike="noStrike" cap="none" dirty="0">
                  <a:solidFill>
                    <a:schemeClr val="lt1"/>
                  </a:solidFill>
                  <a:latin typeface="Baskervville"/>
                  <a:ea typeface="Baskervville"/>
                  <a:cs typeface="Baskervville"/>
                  <a:sym typeface="Baskervville"/>
                </a:rPr>
                <a:t>Questions will be taken at the logical end of the topic</a:t>
              </a:r>
              <a:endParaRPr sz="2000" b="0" i="0" u="none" strike="noStrike" cap="none" dirty="0">
                <a:solidFill>
                  <a:schemeClr val="lt1"/>
                </a:solidFill>
                <a:latin typeface="Baskervville"/>
                <a:ea typeface="Baskervville"/>
                <a:cs typeface="Baskervville"/>
                <a:sym typeface="Baskervville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720774" y="2285864"/>
              <a:ext cx="846900" cy="8469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endParaRPr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995230" y="3386558"/>
              <a:ext cx="9443700" cy="677700"/>
            </a:xfrm>
            <a:prstGeom prst="rect">
              <a:avLst/>
            </a:prstGeom>
            <a:gradFill>
              <a:gsLst>
                <a:gs pos="0">
                  <a:srgbClr val="EA6A14"/>
                </a:gs>
                <a:gs pos="23000">
                  <a:srgbClr val="EA6A14"/>
                </a:gs>
                <a:gs pos="42000">
                  <a:srgbClr val="DB6413"/>
                </a:gs>
                <a:gs pos="69000">
                  <a:srgbClr val="C55A11"/>
                </a:gs>
                <a:gs pos="97000">
                  <a:srgbClr val="B85410"/>
                </a:gs>
                <a:gs pos="100000">
                  <a:srgbClr val="B85410"/>
                </a:gs>
              </a:gsLst>
              <a:path path="circle">
                <a:fillToRect l="50000" t="50000" r="50000" b="50000"/>
              </a:path>
              <a:tileRect/>
            </a:gra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endParaRPr>
            </a:p>
          </p:txBody>
        </p:sp>
        <p:sp>
          <p:nvSpPr>
            <p:cNvPr id="119" name="Google Shape;119;p3"/>
            <p:cNvSpPr txBox="1"/>
            <p:nvPr/>
          </p:nvSpPr>
          <p:spPr>
            <a:xfrm>
              <a:off x="995230" y="3386558"/>
              <a:ext cx="9443700" cy="6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7800" tIns="60950" rIns="60950" bIns="609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Libre Baskerville"/>
                <a:buNone/>
              </a:pPr>
              <a:r>
                <a:rPr lang="en-US" sz="2000" b="0" i="0" u="none" strike="noStrike" cap="none" dirty="0">
                  <a:solidFill>
                    <a:schemeClr val="lt1"/>
                  </a:solidFill>
                  <a:latin typeface="Baskervville"/>
                  <a:ea typeface="Baskervville"/>
                  <a:cs typeface="Baskervville"/>
                  <a:sym typeface="Baskervville"/>
                </a:rPr>
                <a:t>Raise your hand/drop a message in chat box before question is asked</a:t>
              </a:r>
              <a:endParaRPr sz="2000" b="0" i="0" u="none" strike="noStrike" cap="none" dirty="0">
                <a:solidFill>
                  <a:schemeClr val="lt1"/>
                </a:solidFill>
                <a:latin typeface="Baskervville"/>
                <a:ea typeface="Baskervville"/>
                <a:cs typeface="Baskervville"/>
                <a:sym typeface="Baskervville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571761" y="3301864"/>
              <a:ext cx="846900" cy="8469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509717" y="4402558"/>
              <a:ext cx="9929400" cy="677700"/>
            </a:xfrm>
            <a:prstGeom prst="rect">
              <a:avLst/>
            </a:prstGeom>
            <a:gradFill>
              <a:gsLst>
                <a:gs pos="0">
                  <a:srgbClr val="EA6A14"/>
                </a:gs>
                <a:gs pos="23000">
                  <a:srgbClr val="EA6A14"/>
                </a:gs>
                <a:gs pos="42000">
                  <a:srgbClr val="DB6413"/>
                </a:gs>
                <a:gs pos="69000">
                  <a:srgbClr val="C55A11"/>
                </a:gs>
                <a:gs pos="97000">
                  <a:srgbClr val="B85410"/>
                </a:gs>
                <a:gs pos="100000">
                  <a:srgbClr val="B85410"/>
                </a:gs>
              </a:gsLst>
              <a:path path="circle">
                <a:fillToRect l="50000" t="50000" r="50000" b="50000"/>
              </a:path>
              <a:tileRect/>
            </a:gra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endParaRPr>
            </a:p>
          </p:txBody>
        </p:sp>
        <p:sp>
          <p:nvSpPr>
            <p:cNvPr id="122" name="Google Shape;122;p3"/>
            <p:cNvSpPr txBox="1"/>
            <p:nvPr/>
          </p:nvSpPr>
          <p:spPr>
            <a:xfrm>
              <a:off x="509717" y="4402558"/>
              <a:ext cx="9929400" cy="6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7800" tIns="60950" rIns="60950" bIns="609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Libre Baskerville"/>
                <a:buNone/>
              </a:pPr>
              <a:r>
                <a:rPr lang="en-US" sz="2000" b="0" i="0" u="none" strike="noStrike" cap="none" dirty="0">
                  <a:solidFill>
                    <a:schemeClr val="lt1"/>
                  </a:solidFill>
                  <a:latin typeface="Baskervville"/>
                  <a:ea typeface="Baskervville"/>
                  <a:cs typeface="Baskervville"/>
                  <a:sym typeface="Baskervville"/>
                </a:rPr>
                <a:t>Respect others time and do not monopolize the discussion</a:t>
              </a:r>
              <a:endParaRPr sz="2000" b="0" i="0" u="none" strike="noStrike" cap="none" dirty="0">
                <a:solidFill>
                  <a:schemeClr val="lt1"/>
                </a:solidFill>
                <a:latin typeface="Baskervville"/>
                <a:ea typeface="Baskervville"/>
                <a:cs typeface="Baskervville"/>
                <a:sym typeface="Baskervville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86248" y="4317864"/>
              <a:ext cx="846900" cy="8469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bab08d322b_0_7"/>
          <p:cNvSpPr txBox="1">
            <a:spLocks noGrp="1"/>
          </p:cNvSpPr>
          <p:nvPr>
            <p:ph type="title" idx="4294967295"/>
          </p:nvPr>
        </p:nvSpPr>
        <p:spPr>
          <a:xfrm>
            <a:off x="77973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askervville"/>
              <a:buNone/>
            </a:pPr>
            <a:r>
              <a:rPr lang="en-US" sz="4000" b="1" dirty="0">
                <a:solidFill>
                  <a:schemeClr val="tx1"/>
                </a:solidFill>
              </a:rPr>
              <a:t>Data and its Importance in Today's World</a:t>
            </a: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DCAFB4-FF00-8E97-AAB7-F8E2F859B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04" y="1000568"/>
            <a:ext cx="2648320" cy="13717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57374E-1CCD-6F60-0B59-E8656884B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09998"/>
            <a:ext cx="3362794" cy="14480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"/>
          <p:cNvSpPr/>
          <p:nvPr/>
        </p:nvSpPr>
        <p:spPr>
          <a:xfrm rot="-5400000">
            <a:off x="1523957" y="1550710"/>
            <a:ext cx="874800" cy="1612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80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8086794" y="1483225"/>
            <a:ext cx="2240049" cy="1745697"/>
          </a:xfrm>
          <a:prstGeom prst="rightArrow">
            <a:avLst>
              <a:gd name="adj1" fmla="val 50000"/>
              <a:gd name="adj2" fmla="val 49531"/>
            </a:avLst>
          </a:prstGeom>
          <a:solidFill>
            <a:srgbClr val="E626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5404088" y="1919650"/>
            <a:ext cx="1340111" cy="872849"/>
          </a:xfrm>
          <a:prstGeom prst="rect">
            <a:avLst/>
          </a:prstGeom>
          <a:solidFill>
            <a:srgbClr val="FBA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4101964" y="1919650"/>
            <a:ext cx="1340111" cy="872849"/>
          </a:xfrm>
          <a:prstGeom prst="rect">
            <a:avLst/>
          </a:prstGeom>
          <a:solidFill>
            <a:srgbClr val="90C2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2761853" y="1919650"/>
            <a:ext cx="1340111" cy="872849"/>
          </a:xfrm>
          <a:prstGeom prst="rect">
            <a:avLst/>
          </a:prstGeom>
          <a:solidFill>
            <a:srgbClr val="07A39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3027011" y="3302050"/>
            <a:ext cx="566192" cy="566192"/>
          </a:xfrm>
          <a:prstGeom prst="ellipse">
            <a:avLst/>
          </a:prstGeom>
          <a:solidFill>
            <a:srgbClr val="07A39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1494153" y="3302050"/>
            <a:ext cx="566192" cy="566192"/>
          </a:xfrm>
          <a:prstGeom prst="ellipse">
            <a:avLst/>
          </a:prstGeom>
          <a:solidFill>
            <a:srgbClr val="0680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5967501" y="3262764"/>
            <a:ext cx="566192" cy="566192"/>
          </a:xfrm>
          <a:prstGeom prst="ellipse">
            <a:avLst/>
          </a:prstGeom>
          <a:solidFill>
            <a:srgbClr val="FBA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8645993" y="3262294"/>
            <a:ext cx="566192" cy="566192"/>
          </a:xfrm>
          <a:prstGeom prst="ellipse">
            <a:avLst/>
          </a:prstGeom>
          <a:solidFill>
            <a:srgbClr val="E626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4520108" y="3302050"/>
            <a:ext cx="566192" cy="566192"/>
          </a:xfrm>
          <a:prstGeom prst="ellipse">
            <a:avLst/>
          </a:prstGeom>
          <a:solidFill>
            <a:srgbClr val="90C2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3"/>
          <p:cNvSpPr txBox="1"/>
          <p:nvPr/>
        </p:nvSpPr>
        <p:spPr>
          <a:xfrm>
            <a:off x="1058111" y="3974785"/>
            <a:ext cx="1438276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3F3F3F"/>
              </a:buClr>
              <a:buSzPts val="1100"/>
            </a:pPr>
            <a:r>
              <a:rPr lang="en-US" sz="1200" dirty="0"/>
              <a:t>Understanding the business problem and collecting the right data needed to solve it.</a:t>
            </a:r>
            <a:endParaRPr sz="120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 txBox="1"/>
          <p:nvPr/>
        </p:nvSpPr>
        <p:spPr>
          <a:xfrm>
            <a:off x="2590969" y="3974785"/>
            <a:ext cx="1438276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3F3F3F"/>
              </a:buClr>
              <a:buSzPts val="1200"/>
            </a:pPr>
            <a:r>
              <a:rPr lang="en-US" sz="1200" dirty="0"/>
              <a:t>Remove duplicates, errors, missing values, and standardize data formats to ensure accuracy and consistency.</a:t>
            </a:r>
            <a:endParaRPr sz="120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3"/>
          <p:cNvSpPr txBox="1"/>
          <p:nvPr/>
        </p:nvSpPr>
        <p:spPr>
          <a:xfrm>
            <a:off x="4084066" y="3974785"/>
            <a:ext cx="151018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3F3F3F"/>
              </a:buClr>
              <a:buSzPts val="1200"/>
            </a:pPr>
            <a:r>
              <a:rPr lang="en-US" sz="1200" dirty="0"/>
              <a:t>Understand the data, find patterns, and get key insights using charts and basic statistics.</a:t>
            </a:r>
            <a:endParaRPr sz="120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3"/>
          <p:cNvSpPr txBox="1"/>
          <p:nvPr/>
        </p:nvSpPr>
        <p:spPr>
          <a:xfrm>
            <a:off x="5594250" y="3962409"/>
            <a:ext cx="1438276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200" dirty="0"/>
              <a:t>Use MySQL or Python to filter, combine, and prepare the data for better analysis.</a:t>
            </a:r>
          </a:p>
        </p:txBody>
      </p:sp>
      <p:sp>
        <p:nvSpPr>
          <p:cNvPr id="318" name="Google Shape;318;p13"/>
          <p:cNvSpPr txBox="1"/>
          <p:nvPr/>
        </p:nvSpPr>
        <p:spPr>
          <a:xfrm>
            <a:off x="8487680" y="3974785"/>
            <a:ext cx="143827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US" sz="1200" dirty="0"/>
              <a:t>Using the findings to make data-driven business decisions</a:t>
            </a:r>
          </a:p>
        </p:txBody>
      </p:sp>
      <p:cxnSp>
        <p:nvCxnSpPr>
          <p:cNvPr id="319" name="Google Shape;319;p13"/>
          <p:cNvCxnSpPr/>
          <p:nvPr/>
        </p:nvCxnSpPr>
        <p:spPr>
          <a:xfrm>
            <a:off x="1791956" y="2833280"/>
            <a:ext cx="0" cy="427219"/>
          </a:xfrm>
          <a:prstGeom prst="straightConnector1">
            <a:avLst/>
          </a:prstGeom>
          <a:noFill/>
          <a:ln w="25400" cap="flat" cmpd="sng">
            <a:solidFill>
              <a:srgbClr val="0680C3"/>
            </a:solidFill>
            <a:prstDash val="dot"/>
            <a:miter lim="800000"/>
            <a:headEnd type="triangle" w="med" len="med"/>
            <a:tailEnd type="none" w="sm" len="sm"/>
          </a:ln>
        </p:spPr>
      </p:cxnSp>
      <p:cxnSp>
        <p:nvCxnSpPr>
          <p:cNvPr id="320" name="Google Shape;320;p13"/>
          <p:cNvCxnSpPr/>
          <p:nvPr/>
        </p:nvCxnSpPr>
        <p:spPr>
          <a:xfrm>
            <a:off x="3310107" y="2833279"/>
            <a:ext cx="0" cy="427219"/>
          </a:xfrm>
          <a:prstGeom prst="straightConnector1">
            <a:avLst/>
          </a:prstGeom>
          <a:noFill/>
          <a:ln w="25400" cap="flat" cmpd="sng">
            <a:solidFill>
              <a:srgbClr val="07A398"/>
            </a:solidFill>
            <a:prstDash val="dot"/>
            <a:miter lim="800000"/>
            <a:headEnd type="triangle" w="med" len="med"/>
            <a:tailEnd type="none" w="sm" len="sm"/>
          </a:ln>
        </p:spPr>
      </p:cxnSp>
      <p:cxnSp>
        <p:nvCxnSpPr>
          <p:cNvPr id="321" name="Google Shape;321;p13"/>
          <p:cNvCxnSpPr/>
          <p:nvPr/>
        </p:nvCxnSpPr>
        <p:spPr>
          <a:xfrm>
            <a:off x="4806579" y="2833279"/>
            <a:ext cx="0" cy="427219"/>
          </a:xfrm>
          <a:prstGeom prst="straightConnector1">
            <a:avLst/>
          </a:prstGeom>
          <a:noFill/>
          <a:ln w="25400" cap="flat" cmpd="sng">
            <a:solidFill>
              <a:srgbClr val="90C221"/>
            </a:solidFill>
            <a:prstDash val="dot"/>
            <a:miter lim="800000"/>
            <a:headEnd type="triangle" w="med" len="med"/>
            <a:tailEnd type="none" w="sm" len="sm"/>
          </a:ln>
        </p:spPr>
      </p:cxnSp>
      <p:cxnSp>
        <p:nvCxnSpPr>
          <p:cNvPr id="322" name="Google Shape;322;p13"/>
          <p:cNvCxnSpPr/>
          <p:nvPr/>
        </p:nvCxnSpPr>
        <p:spPr>
          <a:xfrm>
            <a:off x="6211989" y="2833278"/>
            <a:ext cx="0" cy="427219"/>
          </a:xfrm>
          <a:prstGeom prst="straightConnector1">
            <a:avLst/>
          </a:prstGeom>
          <a:noFill/>
          <a:ln w="25400" cap="flat" cmpd="sng">
            <a:solidFill>
              <a:srgbClr val="FBA200"/>
            </a:solidFill>
            <a:prstDash val="dot"/>
            <a:miter lim="800000"/>
            <a:headEnd type="triangle" w="med" len="med"/>
            <a:tailEnd type="none" w="sm" len="sm"/>
          </a:ln>
        </p:spPr>
      </p:cxnSp>
      <p:cxnSp>
        <p:nvCxnSpPr>
          <p:cNvPr id="323" name="Google Shape;323;p13"/>
          <p:cNvCxnSpPr/>
          <p:nvPr/>
        </p:nvCxnSpPr>
        <p:spPr>
          <a:xfrm>
            <a:off x="8889334" y="2801703"/>
            <a:ext cx="0" cy="427219"/>
          </a:xfrm>
          <a:prstGeom prst="straightConnector1">
            <a:avLst/>
          </a:prstGeom>
          <a:noFill/>
          <a:ln w="25400" cap="flat" cmpd="sng">
            <a:solidFill>
              <a:srgbClr val="E62601"/>
            </a:solidFill>
            <a:prstDash val="dot"/>
            <a:miter lim="800000"/>
            <a:headEnd type="triangle" w="med" len="med"/>
            <a:tailEnd type="none" w="sm" len="sm"/>
          </a:ln>
        </p:spPr>
      </p:cxnSp>
      <p:sp>
        <p:nvSpPr>
          <p:cNvPr id="324" name="Google Shape;324;p13"/>
          <p:cNvSpPr txBox="1"/>
          <p:nvPr/>
        </p:nvSpPr>
        <p:spPr>
          <a:xfrm>
            <a:off x="1333037" y="2213236"/>
            <a:ext cx="127510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Collection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3"/>
          <p:cNvSpPr txBox="1"/>
          <p:nvPr/>
        </p:nvSpPr>
        <p:spPr>
          <a:xfrm>
            <a:off x="2826465" y="2198451"/>
            <a:ext cx="130410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FFFFFF"/>
              </a:buClr>
              <a:buSzPts val="1200"/>
            </a:pPr>
            <a:r>
              <a:rPr lang="en-US" sz="1200" dirty="0">
                <a:solidFill>
                  <a:schemeClr val="bg1"/>
                </a:solidFill>
              </a:rPr>
              <a:t>Data Cleaning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3"/>
          <p:cNvSpPr txBox="1"/>
          <p:nvPr/>
        </p:nvSpPr>
        <p:spPr>
          <a:xfrm>
            <a:off x="4252185" y="2120904"/>
            <a:ext cx="119237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Exploratory Data Analysis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 txBox="1"/>
          <p:nvPr/>
        </p:nvSpPr>
        <p:spPr>
          <a:xfrm>
            <a:off x="5425705" y="2101174"/>
            <a:ext cx="123374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FFFFFF"/>
              </a:buClr>
              <a:buSzPts val="1200"/>
            </a:pPr>
            <a:r>
              <a:rPr lang="en-US" sz="1200" dirty="0">
                <a:solidFill>
                  <a:schemeClr val="bg1"/>
                </a:solidFill>
              </a:rPr>
              <a:t>Data Transformation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6743724" y="1922285"/>
            <a:ext cx="1340111" cy="872849"/>
          </a:xfrm>
          <a:prstGeom prst="rect">
            <a:avLst/>
          </a:prstGeom>
          <a:solidFill>
            <a:srgbClr val="8CB3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 txBox="1"/>
          <p:nvPr/>
        </p:nvSpPr>
        <p:spPr>
          <a:xfrm>
            <a:off x="6755491" y="2149813"/>
            <a:ext cx="120312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FFFFFF"/>
              </a:buClr>
              <a:buSzPts val="1200"/>
            </a:pPr>
            <a:r>
              <a:rPr lang="en-US" sz="1200" dirty="0">
                <a:solidFill>
                  <a:schemeClr val="bg1"/>
                </a:solidFill>
              </a:rPr>
              <a:t>Visualization &amp; Reporting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 txBox="1"/>
          <p:nvPr/>
        </p:nvSpPr>
        <p:spPr>
          <a:xfrm>
            <a:off x="8291566" y="2178996"/>
            <a:ext cx="154193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FFFFFF"/>
              </a:buClr>
              <a:buSzPts val="1200"/>
            </a:pPr>
            <a:r>
              <a:rPr lang="en-US" sz="1200" dirty="0">
                <a:solidFill>
                  <a:schemeClr val="bg1"/>
                </a:solidFill>
              </a:rPr>
              <a:t>Decision Making &amp; Business Impact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7237207" y="3272662"/>
            <a:ext cx="566192" cy="566192"/>
          </a:xfrm>
          <a:prstGeom prst="ellipse">
            <a:avLst/>
          </a:prstGeom>
          <a:solidFill>
            <a:srgbClr val="8CB3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13"/>
          <p:cNvCxnSpPr/>
          <p:nvPr/>
        </p:nvCxnSpPr>
        <p:spPr>
          <a:xfrm>
            <a:off x="7520303" y="2833277"/>
            <a:ext cx="0" cy="427219"/>
          </a:xfrm>
          <a:prstGeom prst="straightConnector1">
            <a:avLst/>
          </a:prstGeom>
          <a:noFill/>
          <a:ln w="25400" cap="flat" cmpd="sng">
            <a:solidFill>
              <a:srgbClr val="8CB3E3"/>
            </a:solidFill>
            <a:prstDash val="dot"/>
            <a:miter lim="800000"/>
            <a:headEnd type="triangle" w="med" len="med"/>
            <a:tailEnd type="none" w="sm" len="sm"/>
          </a:ln>
        </p:spPr>
      </p:cxnSp>
      <p:sp>
        <p:nvSpPr>
          <p:cNvPr id="333" name="Google Shape;333;p13"/>
          <p:cNvSpPr txBox="1"/>
          <p:nvPr/>
        </p:nvSpPr>
        <p:spPr>
          <a:xfrm>
            <a:off x="7130374" y="3972307"/>
            <a:ext cx="1439694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3F3F3F"/>
              </a:buClr>
              <a:buSzPts val="1200"/>
            </a:pPr>
            <a:r>
              <a:rPr lang="en-US" sz="1200" dirty="0"/>
              <a:t>Create dashboards, charts, and reports to show the results clearly and make them easy to understand and use.</a:t>
            </a:r>
            <a:endParaRPr sz="120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"/>
          <p:cNvSpPr txBox="1"/>
          <p:nvPr/>
        </p:nvSpPr>
        <p:spPr>
          <a:xfrm>
            <a:off x="254174" y="235958"/>
            <a:ext cx="10515600" cy="951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Analysis Project lifecycle</a:t>
            </a:r>
            <a:endParaRPr sz="4000" b="1" i="0" u="none" strike="noStrike" cap="none" dirty="0">
              <a:solidFill>
                <a:srgbClr val="C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cxnSp>
        <p:nvCxnSpPr>
          <p:cNvPr id="335" name="Google Shape;335;p13"/>
          <p:cNvCxnSpPr>
            <a:stCxn id="328" idx="0"/>
            <a:endCxn id="304" idx="0"/>
          </p:cNvCxnSpPr>
          <p:nvPr/>
        </p:nvCxnSpPr>
        <p:spPr>
          <a:xfrm rot="5400000" flipH="1">
            <a:off x="4686180" y="-805315"/>
            <a:ext cx="2700" cy="5452500"/>
          </a:xfrm>
          <a:prstGeom prst="bentConnector3">
            <a:avLst>
              <a:gd name="adj1" fmla="val 22228704"/>
            </a:avLst>
          </a:prstGeom>
          <a:noFill/>
          <a:ln w="9525" cap="flat" cmpd="sng">
            <a:solidFill>
              <a:schemeClr val="bg2">
                <a:lumMod val="50000"/>
              </a:schemeClr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42271" y="728831"/>
          <a:ext cx="11671908" cy="6041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9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6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58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068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User ID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Name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Preference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Restaurant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Order ID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Order Time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>
                          <a:effectLst/>
                          <a:latin typeface="Baskervville" charset="0"/>
                        </a:rPr>
                        <a:t>Item Ordered</a:t>
                      </a:r>
                      <a:endParaRPr lang="en-US" sz="1250" b="1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Order amount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Delivery area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Delivery time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Rating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001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Krishna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Veg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Chutneys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211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12:03 PM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Paneer Biryani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350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Miyapur cross road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Suresh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311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12:22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Mutton Biryani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350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Kukatpally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i="0" u="none" strike="noStrike" dirty="0">
                          <a:solidFill>
                            <a:schemeClr val="dk1"/>
                          </a:solidFill>
                          <a:effectLst/>
                          <a:latin typeface="Baskervville" charset="0"/>
                        </a:rPr>
                        <a:t>25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i="0" u="none" strike="noStrike" dirty="0">
                          <a:solidFill>
                            <a:schemeClr val="dk1"/>
                          </a:solidFill>
                          <a:effectLst/>
                          <a:latin typeface="Baskervville" charset="0"/>
                        </a:rPr>
                        <a:t>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003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Kaushik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Mehfil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411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12:28 PM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Chicken Biryani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320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Nizampet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23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Rahul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312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12:28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Roti with Chicken curry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300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IDPL Colony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35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i="0" u="none" strike="noStrike" dirty="0">
                          <a:solidFill>
                            <a:schemeClr val="dk1"/>
                          </a:solidFill>
                          <a:effectLst/>
                          <a:latin typeface="Baskervville" charset="0"/>
                        </a:rPr>
                        <a:t>2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Surya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Mehfil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412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12:30 PM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Chicken fry Biryani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340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Mathrushree nagar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006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Shankar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313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12:32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Roti with dal fry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200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ASR Nagar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007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Prakash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Mehfil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413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12:37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Prawn Biryani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380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Pragathi Nagar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008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Balaji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12:45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Chicken Biryani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320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KPHB phase 9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009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Anjali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Mehfil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414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12:52 PM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Mutton Biryani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340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 err="1">
                          <a:effectLst/>
                          <a:latin typeface="Baskervville" charset="0"/>
                        </a:rPr>
                        <a:t>Vivekanandha</a:t>
                      </a:r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 </a:t>
                      </a:r>
                      <a:r>
                        <a:rPr lang="en-US" sz="1250" u="none" strike="noStrike" dirty="0" err="1">
                          <a:effectLst/>
                          <a:latin typeface="Baskervville" charset="0"/>
                        </a:rPr>
                        <a:t>nagar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Suresh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3:36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Chicken 65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280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Kukatpally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i="0" u="none" strike="noStrike" dirty="0">
                          <a:solidFill>
                            <a:schemeClr val="dk1"/>
                          </a:solidFill>
                          <a:effectLst/>
                          <a:latin typeface="Baskervville" charset="0"/>
                        </a:rPr>
                        <a:t>35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i="0" u="none" strike="noStrike" dirty="0">
                          <a:solidFill>
                            <a:schemeClr val="dk1"/>
                          </a:solidFill>
                          <a:effectLst/>
                          <a:latin typeface="Baskervville" charset="0"/>
                        </a:rPr>
                        <a:t>2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010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Karthik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Chutneys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212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4:00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Roti with dal fry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300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NRSA Colony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22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4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011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Madhuri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316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05:00 PM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Prawn fry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Addagutta society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Google Shape;158;p7"/>
          <p:cNvSpPr txBox="1"/>
          <p:nvPr/>
        </p:nvSpPr>
        <p:spPr>
          <a:xfrm>
            <a:off x="609028" y="12406"/>
            <a:ext cx="10515600" cy="67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C00000"/>
                </a:solidFill>
                <a:latin typeface="Baskervville"/>
                <a:ea typeface="Baskervville"/>
                <a:cs typeface="Baskervville"/>
                <a:sym typeface="Baskervville"/>
              </a:rPr>
              <a:t>Data</a:t>
            </a:r>
            <a:endParaRPr sz="1400" b="1" i="0" u="none" strike="noStrike" cap="none" dirty="0">
              <a:solidFill>
                <a:srgbClr val="000000"/>
              </a:solidFill>
              <a:latin typeface="Baskervville"/>
              <a:ea typeface="Baskervville"/>
              <a:cs typeface="Baskervville"/>
              <a:sym typeface="Baskervville"/>
            </a:endParaRPr>
          </a:p>
        </p:txBody>
      </p:sp>
    </p:spTree>
    <p:extLst>
      <p:ext uri="{BB962C8B-B14F-4D97-AF65-F5344CB8AC3E}">
        <p14:creationId xmlns:p14="http://schemas.microsoft.com/office/powerpoint/2010/main" val="1394941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42271" y="728831"/>
          <a:ext cx="11671908" cy="6041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9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6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58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068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User ID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Name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Preference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Restaurant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Order ID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Order Time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Item Ordered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Order amount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Delivery area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Delivery time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Rating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001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Krishna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Veg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Chutneys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211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12:03 PM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Paneer Biryani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350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Miyapur cross road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Suresh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311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12:22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Mutton Biryani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350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Kukatpally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i="0" u="none" strike="noStrike" dirty="0">
                          <a:solidFill>
                            <a:schemeClr val="dk1"/>
                          </a:solidFill>
                          <a:effectLst/>
                          <a:latin typeface="Baskervville" charset="0"/>
                        </a:rPr>
                        <a:t>25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i="0" u="none" strike="noStrike" dirty="0">
                          <a:solidFill>
                            <a:schemeClr val="dk1"/>
                          </a:solidFill>
                          <a:effectLst/>
                          <a:latin typeface="Baskervville" charset="0"/>
                        </a:rPr>
                        <a:t>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003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Kaushik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Mehfil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411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12:28 PM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Chicken Biryani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320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Nizampet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23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Rahul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12:28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Roti with Chicken curry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300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IDPL Colony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35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i="0" u="none" strike="noStrike" dirty="0">
                          <a:solidFill>
                            <a:schemeClr val="dk1"/>
                          </a:solidFill>
                          <a:effectLst/>
                          <a:latin typeface="Baskervville" charset="0"/>
                        </a:rPr>
                        <a:t>2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Surya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Mehfil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412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12:30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Chicken fry Biryani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340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Mathrushree nagar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006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Shankar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313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12:32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Roti with dal fry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200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ASR Nagar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007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Prakash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Mehfil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413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12:37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Prawn Biryani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380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Pragathi Nagar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008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Balaji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12:45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Chicken Biryani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320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KPHB phase 9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009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Anjali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Mehfil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414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12:52 PM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Mutton Biryani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340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Vivekanandha nagar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Suresh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3:36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Chicken 65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280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Kukatpally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i="0" u="none" strike="noStrike" dirty="0">
                          <a:solidFill>
                            <a:schemeClr val="dk1"/>
                          </a:solidFill>
                          <a:effectLst/>
                          <a:latin typeface="Baskervville" charset="0"/>
                        </a:rPr>
                        <a:t>35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i="0" u="none" strike="noStrike" dirty="0">
                          <a:solidFill>
                            <a:schemeClr val="dk1"/>
                          </a:solidFill>
                          <a:effectLst/>
                          <a:latin typeface="Baskervville" charset="0"/>
                        </a:rPr>
                        <a:t>2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010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Karthik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Chutneys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212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4:00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Roti with dal fry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300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NRSA Colony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011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Madhuri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316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05:00 PM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Prawn fry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310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Addagutta society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Google Shape;158;p7"/>
          <p:cNvSpPr txBox="1"/>
          <p:nvPr/>
        </p:nvSpPr>
        <p:spPr>
          <a:xfrm>
            <a:off x="609028" y="12406"/>
            <a:ext cx="10515600" cy="67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C00000"/>
                </a:solidFill>
                <a:latin typeface="Baskervville"/>
                <a:ea typeface="Baskervville"/>
                <a:cs typeface="Baskervville"/>
                <a:sym typeface="Baskervville"/>
              </a:rPr>
              <a:t>Analysis: </a:t>
            </a:r>
            <a:r>
              <a:rPr lang="en-US" sz="4400" b="1" i="0" u="none" strike="noStrike" cap="none" dirty="0">
                <a:solidFill>
                  <a:srgbClr val="C00000"/>
                </a:solidFill>
                <a:latin typeface="Baskervville"/>
                <a:ea typeface="Baskervville"/>
                <a:cs typeface="Baskervville"/>
                <a:sym typeface="Baskervville"/>
              </a:rPr>
              <a:t>Customer Behavior</a:t>
            </a:r>
            <a:endParaRPr sz="1400" b="1" i="0" u="none" strike="noStrike" cap="none" dirty="0">
              <a:solidFill>
                <a:srgbClr val="000000"/>
              </a:solidFill>
              <a:latin typeface="Baskervville"/>
              <a:ea typeface="Baskervville"/>
              <a:cs typeface="Baskervville"/>
              <a:sym typeface="Baskervville"/>
            </a:endParaRPr>
          </a:p>
        </p:txBody>
      </p:sp>
    </p:spTree>
    <p:extLst>
      <p:ext uri="{BB962C8B-B14F-4D97-AF65-F5344CB8AC3E}">
        <p14:creationId xmlns:p14="http://schemas.microsoft.com/office/powerpoint/2010/main" val="1564072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8;p7"/>
          <p:cNvSpPr txBox="1"/>
          <p:nvPr/>
        </p:nvSpPr>
        <p:spPr>
          <a:xfrm>
            <a:off x="609028" y="12406"/>
            <a:ext cx="10515600" cy="67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C00000"/>
                </a:solidFill>
                <a:latin typeface="Baskervville"/>
                <a:ea typeface="Baskervville"/>
                <a:cs typeface="Baskervville"/>
                <a:sym typeface="Baskervville"/>
              </a:rPr>
              <a:t>Analysis: </a:t>
            </a:r>
            <a:r>
              <a:rPr lang="en-US" sz="4400" b="1" i="0" u="none" strike="noStrike" cap="none" dirty="0">
                <a:solidFill>
                  <a:srgbClr val="C00000"/>
                </a:solidFill>
                <a:latin typeface="Baskervville"/>
                <a:ea typeface="Baskervville"/>
                <a:cs typeface="Baskervville"/>
                <a:sym typeface="Baskervville"/>
              </a:rPr>
              <a:t>Customer Behavior</a:t>
            </a:r>
            <a:endParaRPr sz="1400" b="1" i="0" u="none" strike="noStrike" cap="none" dirty="0">
              <a:solidFill>
                <a:srgbClr val="000000"/>
              </a:solidFill>
              <a:latin typeface="Baskervville"/>
              <a:ea typeface="Baskervville"/>
              <a:cs typeface="Baskervville"/>
              <a:sym typeface="Baskervville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0224" y="1360048"/>
            <a:ext cx="7763078" cy="4591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13621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42271" y="728831"/>
          <a:ext cx="11671908" cy="6041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9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6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58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068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User ID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Name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Preference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Restaurant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Order ID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Order Time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>
                          <a:effectLst/>
                          <a:latin typeface="Baskervville" charset="0"/>
                        </a:rPr>
                        <a:t>Item Ordered</a:t>
                      </a:r>
                      <a:endParaRPr lang="en-US" sz="1250" b="1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Order amount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Delivery area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Delivery time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Rating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001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Krishna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Veg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Chutneys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211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12:03 PM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Paneer Biryani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350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Miyapur cross road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Suresh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311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12:22 PM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Mutton Biryani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350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Kukatpally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i="0" u="none" strike="noStrike" dirty="0">
                          <a:solidFill>
                            <a:schemeClr val="dk1"/>
                          </a:solidFill>
                          <a:effectLst/>
                          <a:latin typeface="Baskervville" charset="0"/>
                        </a:rPr>
                        <a:t>25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i="0" u="none" strike="noStrike" dirty="0">
                          <a:solidFill>
                            <a:schemeClr val="dk1"/>
                          </a:solidFill>
                          <a:effectLst/>
                          <a:latin typeface="Baskervville" charset="0"/>
                        </a:rPr>
                        <a:t>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003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Kaushik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Mehfil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411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12:28 PM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Chicken Biryani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320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Nizampet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23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Rahul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312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12:28 PM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Roti with Chicken curry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300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IDPL Colony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35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i="0" u="none" strike="noStrike" dirty="0">
                          <a:solidFill>
                            <a:schemeClr val="dk1"/>
                          </a:solidFill>
                          <a:effectLst/>
                          <a:latin typeface="Baskervville" charset="0"/>
                        </a:rPr>
                        <a:t>2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Surya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Mehfil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412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12:30 PM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Chicken fry Biryani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340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Mathrushree nagar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006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Shankar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313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12:32 PM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Roti with dal fry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200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ASR Nagar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007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Prakash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Mehfil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413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12:37 PM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Prawn Biryani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380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Pragathi Nagar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008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Balaji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12:45 PM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Chicken Biryani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320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KPHB phase 9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009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Anjali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Mehfil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414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12:52 PM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Mutton Biryani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340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Vivekanandha nagar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Suresh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3:36 PM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Chicken 65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280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Kukatpally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i="0" u="none" strike="noStrike" dirty="0">
                          <a:solidFill>
                            <a:schemeClr val="dk1"/>
                          </a:solidFill>
                          <a:effectLst/>
                          <a:latin typeface="Baskervville" charset="0"/>
                        </a:rPr>
                        <a:t>35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i="0" u="none" strike="noStrike" dirty="0">
                          <a:solidFill>
                            <a:schemeClr val="dk1"/>
                          </a:solidFill>
                          <a:effectLst/>
                          <a:latin typeface="Baskervville" charset="0"/>
                        </a:rPr>
                        <a:t>2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010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Karthik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Chutneys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212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4:00 PM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Roti with dal fry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300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NRSA Colony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011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Madhuri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316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05:00 PM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Prawn fry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Addagutta society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Google Shape;158;p7"/>
          <p:cNvSpPr txBox="1"/>
          <p:nvPr/>
        </p:nvSpPr>
        <p:spPr>
          <a:xfrm>
            <a:off x="609028" y="12406"/>
            <a:ext cx="10515600" cy="67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C00000"/>
                </a:solidFill>
                <a:latin typeface="Baskervville"/>
                <a:ea typeface="Baskervville"/>
                <a:cs typeface="Baskervville"/>
                <a:sym typeface="Baskervville"/>
              </a:rPr>
              <a:t>Analysis: </a:t>
            </a:r>
            <a:r>
              <a:rPr lang="en-US" sz="4400" b="1" i="0" u="none" strike="noStrike" cap="none" dirty="0">
                <a:solidFill>
                  <a:srgbClr val="C00000"/>
                </a:solidFill>
                <a:latin typeface="Baskervville"/>
                <a:ea typeface="Baskervville"/>
                <a:cs typeface="Baskervville"/>
                <a:sym typeface="Baskervville"/>
              </a:rPr>
              <a:t>Customer Behavior</a:t>
            </a:r>
            <a:endParaRPr sz="1400" b="1" i="0" u="none" strike="noStrike" cap="none" dirty="0">
              <a:solidFill>
                <a:srgbClr val="000000"/>
              </a:solidFill>
              <a:latin typeface="Baskervville"/>
              <a:ea typeface="Baskervville"/>
              <a:cs typeface="Baskervville"/>
              <a:sym typeface="Baskervville"/>
            </a:endParaRPr>
          </a:p>
        </p:txBody>
      </p:sp>
    </p:spTree>
    <p:extLst>
      <p:ext uri="{BB962C8B-B14F-4D97-AF65-F5344CB8AC3E}">
        <p14:creationId xmlns:p14="http://schemas.microsoft.com/office/powerpoint/2010/main" val="4198189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8;p7"/>
          <p:cNvSpPr txBox="1"/>
          <p:nvPr/>
        </p:nvSpPr>
        <p:spPr>
          <a:xfrm>
            <a:off x="609028" y="12406"/>
            <a:ext cx="10515600" cy="67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C00000"/>
                </a:solidFill>
                <a:latin typeface="Baskervville"/>
                <a:ea typeface="Baskervville"/>
                <a:cs typeface="Baskervville"/>
                <a:sym typeface="Baskervville"/>
              </a:rPr>
              <a:t>Analysis: </a:t>
            </a:r>
            <a:r>
              <a:rPr lang="en-US" sz="4400" b="1" i="0" u="none" strike="noStrike" cap="none" dirty="0">
                <a:solidFill>
                  <a:srgbClr val="C00000"/>
                </a:solidFill>
                <a:latin typeface="Baskervville"/>
                <a:ea typeface="Baskervville"/>
                <a:cs typeface="Baskervville"/>
                <a:sym typeface="Baskervville"/>
              </a:rPr>
              <a:t>Customer Behavior</a:t>
            </a:r>
            <a:endParaRPr sz="1400" b="1" i="0" u="none" strike="noStrike" cap="none" dirty="0">
              <a:solidFill>
                <a:srgbClr val="000000"/>
              </a:solidFill>
              <a:latin typeface="Baskervville"/>
              <a:ea typeface="Baskervville"/>
              <a:cs typeface="Baskervville"/>
              <a:sym typeface="Baskervville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5404" y="1475158"/>
            <a:ext cx="7540293" cy="4400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01922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42271" y="728831"/>
          <a:ext cx="11671908" cy="6041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9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6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58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068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659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User ID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Name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Preference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Restaurant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Order ID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Order Time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>
                          <a:effectLst/>
                          <a:latin typeface="Baskervville" charset="0"/>
                        </a:rPr>
                        <a:t>Item Ordered</a:t>
                      </a:r>
                      <a:endParaRPr lang="en-US" sz="1250" b="1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Order amount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Delivery area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Delivery time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effectLst/>
                          <a:latin typeface="Baskervville" charset="0"/>
                        </a:rPr>
                        <a:t>Rating</a:t>
                      </a:r>
                      <a:endParaRPr lang="en-US" sz="1250" b="1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001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Krishna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Veg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Chutneys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211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12:03 PM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Paneer Biryani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350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Miyapur cross road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Suresh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311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12:22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Mutton Biryani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350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Kukatpally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i="0" u="none" strike="noStrike" dirty="0">
                          <a:solidFill>
                            <a:schemeClr val="dk1"/>
                          </a:solidFill>
                          <a:effectLst/>
                          <a:latin typeface="Baskervville" charset="0"/>
                        </a:rPr>
                        <a:t>25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0" i="0" u="none" strike="noStrike" dirty="0">
                          <a:solidFill>
                            <a:schemeClr val="dk1"/>
                          </a:solidFill>
                          <a:effectLst/>
                          <a:latin typeface="Baskervville" charset="0"/>
                        </a:rPr>
                        <a:t>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003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Kaushik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Mehfil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411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12:28 PM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Chicken Biryani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320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Nizampet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23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Rahul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12:28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Roti with Chicken curry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300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IDPL Colony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u="none" strike="noStrike" dirty="0">
                          <a:solidFill>
                            <a:srgbClr val="FF0000"/>
                          </a:solidFill>
                          <a:effectLst/>
                          <a:latin typeface="Baskervville" charset="0"/>
                        </a:rPr>
                        <a:t>35</a:t>
                      </a:r>
                      <a:endParaRPr lang="en-US" sz="1250" b="1" i="0" u="none" strike="noStrike" dirty="0">
                        <a:solidFill>
                          <a:srgbClr val="FF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i="0" u="none" strike="noStrike" dirty="0">
                          <a:solidFill>
                            <a:srgbClr val="FF0000"/>
                          </a:solidFill>
                          <a:effectLst/>
                          <a:latin typeface="Baskervville" charset="0"/>
                        </a:rPr>
                        <a:t>2</a:t>
                      </a: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Surya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Mehfil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412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12:30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Chicken fry Biryani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340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Mathrushree nagar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i="0" u="none" strike="noStrike" dirty="0">
                          <a:solidFill>
                            <a:srgbClr val="FF0000"/>
                          </a:solidFill>
                          <a:effectLst/>
                          <a:latin typeface="Baskervville" charset="0"/>
                        </a:rPr>
                        <a:t>40</a:t>
                      </a: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i="0" u="none" strike="noStrike" dirty="0">
                          <a:solidFill>
                            <a:srgbClr val="FF0000"/>
                          </a:solidFill>
                          <a:effectLst/>
                          <a:latin typeface="Baskervville" charset="0"/>
                        </a:rPr>
                        <a:t>1</a:t>
                      </a: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006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Shankar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313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12:32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Roti with dal fry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200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ASR Nagar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35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007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Prakash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Mehfil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413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12:37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Prawn Biryani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380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Pragathi Nagar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008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Balaji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12:45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Chicken Biryani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320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KPHB phase 9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009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Anjali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Mehfil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414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12:52 PM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Mutton Biryani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340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Vivekanandha nagar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002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Suresh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3:36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Chicken 65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280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Kukatpally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i="0" u="none" strike="noStrike" dirty="0">
                          <a:solidFill>
                            <a:srgbClr val="FF0000"/>
                          </a:solidFill>
                          <a:effectLst/>
                          <a:latin typeface="Baskervville" charset="0"/>
                        </a:rPr>
                        <a:t>35</a:t>
                      </a: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b="1" i="0" u="none" strike="noStrike" dirty="0">
                          <a:solidFill>
                            <a:srgbClr val="FF0000"/>
                          </a:solidFill>
                          <a:effectLst/>
                          <a:latin typeface="Baskervville" charset="0"/>
                        </a:rPr>
                        <a:t>2</a:t>
                      </a: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010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Karthik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Chutneys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212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4:00 PM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Roti with dal fry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300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NRSA Colony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22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4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1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011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Madhuri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Non-Veg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Pista House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316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05:00 PM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Prawn fry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310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Addagutta society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>
                          <a:effectLst/>
                          <a:latin typeface="Baskervville" charset="0"/>
                        </a:rPr>
                        <a:t>25</a:t>
                      </a:r>
                      <a:endParaRPr lang="en-US" sz="1250" b="0" i="0" u="none" strike="noStrike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50" u="none" strike="noStrike" dirty="0">
                          <a:effectLst/>
                          <a:latin typeface="Baskervville" charset="0"/>
                        </a:rPr>
                        <a:t>5</a:t>
                      </a:r>
                      <a:endParaRPr lang="en-US" sz="1250" b="0" i="0" u="none" strike="noStrike" dirty="0">
                        <a:solidFill>
                          <a:srgbClr val="000000"/>
                        </a:solidFill>
                        <a:effectLst/>
                        <a:latin typeface="Baskervville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Google Shape;158;p7"/>
          <p:cNvSpPr txBox="1"/>
          <p:nvPr/>
        </p:nvSpPr>
        <p:spPr>
          <a:xfrm>
            <a:off x="609028" y="12406"/>
            <a:ext cx="10515600" cy="67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C00000"/>
                </a:solidFill>
                <a:latin typeface="Baskervville"/>
                <a:ea typeface="Baskervville"/>
                <a:cs typeface="Baskervville"/>
                <a:sym typeface="Baskervville"/>
              </a:rPr>
              <a:t>Analysis: Delivery Performance</a:t>
            </a:r>
            <a:endParaRPr sz="1400" b="1" i="0" u="none" strike="noStrike" cap="none" dirty="0">
              <a:solidFill>
                <a:srgbClr val="000000"/>
              </a:solidFill>
              <a:latin typeface="Baskervville"/>
              <a:ea typeface="Baskervville"/>
              <a:cs typeface="Baskervville"/>
              <a:sym typeface="Baskervville"/>
            </a:endParaRPr>
          </a:p>
        </p:txBody>
      </p:sp>
    </p:spTree>
    <p:extLst>
      <p:ext uri="{BB962C8B-B14F-4D97-AF65-F5344CB8AC3E}">
        <p14:creationId xmlns:p14="http://schemas.microsoft.com/office/powerpoint/2010/main" val="4127199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8;p7"/>
          <p:cNvSpPr txBox="1"/>
          <p:nvPr/>
        </p:nvSpPr>
        <p:spPr>
          <a:xfrm>
            <a:off x="609028" y="12406"/>
            <a:ext cx="10515600" cy="67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4400"/>
            </a:pPr>
            <a:r>
              <a:rPr lang="en-US" sz="4400" b="1" dirty="0">
                <a:solidFill>
                  <a:srgbClr val="C00000"/>
                </a:solidFill>
                <a:latin typeface="Baskervville"/>
                <a:ea typeface="Baskervville"/>
                <a:cs typeface="Baskervville"/>
                <a:sym typeface="Baskervville"/>
              </a:rPr>
              <a:t>Analysis: Delivery Performance</a:t>
            </a:r>
            <a:endParaRPr lang="en-US" b="1" dirty="0">
              <a:latin typeface="Baskervville"/>
              <a:ea typeface="Baskervville"/>
              <a:cs typeface="Baskervville"/>
              <a:sym typeface="Baskervville"/>
            </a:endParaRPr>
          </a:p>
        </p:txBody>
      </p:sp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2088204" y="1425101"/>
          <a:ext cx="8057745" cy="3886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12630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8;p7"/>
          <p:cNvSpPr txBox="1"/>
          <p:nvPr/>
        </p:nvSpPr>
        <p:spPr>
          <a:xfrm>
            <a:off x="463931" y="154004"/>
            <a:ext cx="10515600" cy="67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4400"/>
            </a:pPr>
            <a:r>
              <a:rPr lang="en-US" sz="4400" b="1" dirty="0">
                <a:solidFill>
                  <a:srgbClr val="C00000"/>
                </a:solidFill>
                <a:latin typeface="Calisto MT" pitchFamily="18" charset="0"/>
                <a:ea typeface="Baskervville"/>
                <a:cs typeface="Baskervville"/>
                <a:sym typeface="Baskervville"/>
              </a:rPr>
              <a:t>Power BI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901" y="845139"/>
            <a:ext cx="10299032" cy="5800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96292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79771" y="1337912"/>
          <a:ext cx="10379412" cy="417767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966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9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3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05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itchFamily="34" charset="0"/>
                          <a:cs typeface="Calibri" pitchFamily="34" charset="0"/>
                        </a:rPr>
                        <a:t>Step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itchFamily="34" charset="0"/>
                          <a:cs typeface="Calibri" pitchFamily="34" charset="0"/>
                        </a:rPr>
                        <a:t>Tool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itchFamily="34" charset="0"/>
                          <a:cs typeface="Calibri" pitchFamily="34" charset="0"/>
                        </a:rPr>
                        <a:t>Purpose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0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alibri" pitchFamily="34" charset="0"/>
                          <a:cs typeface="Calibri" pitchFamily="34" charset="0"/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alibri" pitchFamily="34" charset="0"/>
                          <a:cs typeface="Calibri" pitchFamily="34" charset="0"/>
                        </a:rPr>
                        <a:t>Python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alibri" pitchFamily="34" charset="0"/>
                          <a:cs typeface="Calibri" pitchFamily="34" charset="0"/>
                        </a:rPr>
                        <a:t>Clean &amp; Explore (EDA)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0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alibri" pitchFamily="34" charset="0"/>
                          <a:cs typeface="Calibri" pitchFamily="34" charset="0"/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alibri" pitchFamily="34" charset="0"/>
                          <a:cs typeface="Calibri" pitchFamily="34" charset="0"/>
                        </a:rPr>
                        <a:t>Excel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itchFamily="34" charset="0"/>
                          <a:cs typeface="Calibri" pitchFamily="34" charset="0"/>
                        </a:rPr>
                        <a:t>Quick analysis &amp; basic visualizations for small datasets</a:t>
                      </a:r>
                      <a:endParaRPr lang="en-US" sz="2000" b="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0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alibri" pitchFamily="34" charset="0"/>
                          <a:cs typeface="Calibri" pitchFamily="34" charset="0"/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alibri" pitchFamily="34" charset="0"/>
                          <a:cs typeface="Calibri" pitchFamily="34" charset="0"/>
                        </a:rPr>
                        <a:t>SQL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alibri" pitchFamily="34" charset="0"/>
                          <a:cs typeface="Calibri" pitchFamily="34" charset="0"/>
                        </a:rPr>
                        <a:t>Store &amp; Query Large Datasets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5671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alibri" pitchFamily="34" charset="0"/>
                          <a:cs typeface="Calibri" pitchFamily="34" charset="0"/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alibri" pitchFamily="34" charset="0"/>
                          <a:cs typeface="Calibri" pitchFamily="34" charset="0"/>
                        </a:rPr>
                        <a:t>Power BI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alibri" pitchFamily="34" charset="0"/>
                          <a:cs typeface="Calibri" pitchFamily="34" charset="0"/>
                        </a:rPr>
                        <a:t>Visualize, Share, Make Decisions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27633" y="481979"/>
            <a:ext cx="7869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Baskerville Old Face" pitchFamily="18" charset="0"/>
              </a:rPr>
              <a:t>The Complete </a:t>
            </a:r>
            <a:r>
              <a:rPr lang="en-US" sz="3600" b="1" dirty="0">
                <a:highlight>
                  <a:srgbClr val="FF0000"/>
                </a:highlight>
                <a:latin typeface="Baskerville Old Face" pitchFamily="18" charset="0"/>
              </a:rPr>
              <a:t>Data Analysis</a:t>
            </a:r>
            <a:r>
              <a:rPr lang="en-US" sz="3600" b="1" dirty="0">
                <a:latin typeface="Baskerville Old Face" pitchFamily="18" charset="0"/>
              </a:rPr>
              <a:t> Journey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bab08d322b_0_32"/>
          <p:cNvSpPr txBox="1">
            <a:spLocks noGrp="1"/>
          </p:cNvSpPr>
          <p:nvPr>
            <p:ph type="title" idx="4294967295"/>
          </p:nvPr>
        </p:nvSpPr>
        <p:spPr>
          <a:xfrm>
            <a:off x="761675" y="3845700"/>
            <a:ext cx="10515600" cy="13257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askervville"/>
              <a:buNone/>
            </a:pPr>
            <a:r>
              <a:rPr lang="en-US" sz="3400" b="1" dirty="0"/>
              <a:t>Art of Understanding the Data + Finding the Pattern</a:t>
            </a:r>
            <a:endParaRPr sz="3000" b="1" dirty="0"/>
          </a:p>
        </p:txBody>
      </p:sp>
      <p:sp>
        <p:nvSpPr>
          <p:cNvPr id="152" name="Google Shape;152;g2bab08d322b_0_32"/>
          <p:cNvSpPr txBox="1">
            <a:spLocks noGrp="1"/>
          </p:cNvSpPr>
          <p:nvPr>
            <p:ph type="title" idx="4294967295"/>
          </p:nvPr>
        </p:nvSpPr>
        <p:spPr>
          <a:xfrm>
            <a:off x="4020953" y="1401097"/>
            <a:ext cx="3997044" cy="1611203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askervville"/>
              <a:buNone/>
            </a:pPr>
            <a:r>
              <a:rPr lang="en-US" sz="4000" b="1" dirty="0"/>
              <a:t>Data Analyst</a:t>
            </a:r>
            <a:endParaRPr b="1" dirty="0"/>
          </a:p>
        </p:txBody>
      </p:sp>
      <p:cxnSp>
        <p:nvCxnSpPr>
          <p:cNvPr id="153" name="Google Shape;153;g2bab08d322b_0_32"/>
          <p:cNvCxnSpPr>
            <a:cxnSpLocks/>
            <a:stCxn id="152" idx="2"/>
            <a:endCxn id="151" idx="0"/>
          </p:cNvCxnSpPr>
          <p:nvPr/>
        </p:nvCxnSpPr>
        <p:spPr>
          <a:xfrm>
            <a:off x="6019475" y="3012300"/>
            <a:ext cx="0" cy="833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bab08d322b_0_32"/>
          <p:cNvSpPr txBox="1">
            <a:spLocks noGrp="1"/>
          </p:cNvSpPr>
          <p:nvPr>
            <p:ph type="title" idx="4294967295"/>
          </p:nvPr>
        </p:nvSpPr>
        <p:spPr>
          <a:xfrm>
            <a:off x="761675" y="3845700"/>
            <a:ext cx="10515600" cy="13257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200"/>
            </a:pPr>
            <a:r>
              <a:rPr lang="en-US" sz="3400" b="1" dirty="0"/>
              <a:t>Art of Understanding the Data + Finding the Pattern + </a:t>
            </a:r>
            <a:r>
              <a:rPr lang="en-US" sz="3200" b="1" dirty="0"/>
              <a:t>Building Predictive Models</a:t>
            </a:r>
            <a:endParaRPr sz="3000" b="1" dirty="0"/>
          </a:p>
        </p:txBody>
      </p:sp>
      <p:sp>
        <p:nvSpPr>
          <p:cNvPr id="152" name="Google Shape;152;g2bab08d322b_0_32"/>
          <p:cNvSpPr txBox="1">
            <a:spLocks noGrp="1"/>
          </p:cNvSpPr>
          <p:nvPr>
            <p:ph type="title" idx="4294967295"/>
          </p:nvPr>
        </p:nvSpPr>
        <p:spPr>
          <a:xfrm>
            <a:off x="4219025" y="1686600"/>
            <a:ext cx="3612600" cy="13257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askervville"/>
              <a:buNone/>
            </a:pPr>
            <a:r>
              <a:rPr lang="en-US" sz="4000" b="1" dirty="0"/>
              <a:t>Data Science</a:t>
            </a:r>
            <a:endParaRPr b="1" dirty="0"/>
          </a:p>
        </p:txBody>
      </p:sp>
      <p:cxnSp>
        <p:nvCxnSpPr>
          <p:cNvPr id="153" name="Google Shape;153;g2bab08d322b_0_32"/>
          <p:cNvCxnSpPr>
            <a:stCxn id="152" idx="2"/>
            <a:endCxn id="151" idx="0"/>
          </p:cNvCxnSpPr>
          <p:nvPr/>
        </p:nvCxnSpPr>
        <p:spPr>
          <a:xfrm flipH="1">
            <a:off x="6019625" y="3012300"/>
            <a:ext cx="5700" cy="833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"/>
          <p:cNvSpPr/>
          <p:nvPr/>
        </p:nvSpPr>
        <p:spPr>
          <a:xfrm rot="-5400000">
            <a:off x="1523957" y="1550710"/>
            <a:ext cx="874800" cy="1612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80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8086794" y="1483225"/>
            <a:ext cx="2240049" cy="1745697"/>
          </a:xfrm>
          <a:prstGeom prst="rightArrow">
            <a:avLst>
              <a:gd name="adj1" fmla="val 50000"/>
              <a:gd name="adj2" fmla="val 49531"/>
            </a:avLst>
          </a:prstGeom>
          <a:solidFill>
            <a:srgbClr val="E626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5404088" y="1919650"/>
            <a:ext cx="1340111" cy="872849"/>
          </a:xfrm>
          <a:prstGeom prst="rect">
            <a:avLst/>
          </a:prstGeom>
          <a:solidFill>
            <a:srgbClr val="FBA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4101964" y="1919650"/>
            <a:ext cx="1340111" cy="872849"/>
          </a:xfrm>
          <a:prstGeom prst="rect">
            <a:avLst/>
          </a:prstGeom>
          <a:solidFill>
            <a:srgbClr val="90C2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2761853" y="1919650"/>
            <a:ext cx="1340111" cy="872849"/>
          </a:xfrm>
          <a:prstGeom prst="rect">
            <a:avLst/>
          </a:prstGeom>
          <a:solidFill>
            <a:srgbClr val="07A39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3027011" y="3302050"/>
            <a:ext cx="566192" cy="566192"/>
          </a:xfrm>
          <a:prstGeom prst="ellipse">
            <a:avLst/>
          </a:prstGeom>
          <a:solidFill>
            <a:srgbClr val="07A39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1494153" y="3302050"/>
            <a:ext cx="566192" cy="566192"/>
          </a:xfrm>
          <a:prstGeom prst="ellipse">
            <a:avLst/>
          </a:prstGeom>
          <a:solidFill>
            <a:srgbClr val="0680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5967501" y="3262764"/>
            <a:ext cx="566192" cy="566192"/>
          </a:xfrm>
          <a:prstGeom prst="ellipse">
            <a:avLst/>
          </a:prstGeom>
          <a:solidFill>
            <a:srgbClr val="FBA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8645993" y="3262294"/>
            <a:ext cx="566192" cy="566192"/>
          </a:xfrm>
          <a:prstGeom prst="ellipse">
            <a:avLst/>
          </a:prstGeom>
          <a:solidFill>
            <a:srgbClr val="E626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4520108" y="3302050"/>
            <a:ext cx="566192" cy="566192"/>
          </a:xfrm>
          <a:prstGeom prst="ellipse">
            <a:avLst/>
          </a:prstGeom>
          <a:solidFill>
            <a:srgbClr val="90C2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3"/>
          <p:cNvSpPr txBox="1"/>
          <p:nvPr/>
        </p:nvSpPr>
        <p:spPr>
          <a:xfrm>
            <a:off x="1058111" y="3974785"/>
            <a:ext cx="143827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Business underdoing  and Collecting the data required to solve the business problem</a:t>
            </a:r>
            <a:endParaRPr sz="1100" b="1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 txBox="1"/>
          <p:nvPr/>
        </p:nvSpPr>
        <p:spPr>
          <a:xfrm>
            <a:off x="2590969" y="3974785"/>
            <a:ext cx="14382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Understanding the data </a:t>
            </a:r>
            <a:endParaRPr sz="1200" b="1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3"/>
          <p:cNvSpPr txBox="1"/>
          <p:nvPr/>
        </p:nvSpPr>
        <p:spPr>
          <a:xfrm>
            <a:off x="4084066" y="3974785"/>
            <a:ext cx="151018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Cleaning the data</a:t>
            </a:r>
            <a:endParaRPr sz="1200" b="1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3"/>
          <p:cNvSpPr txBox="1"/>
          <p:nvPr/>
        </p:nvSpPr>
        <p:spPr>
          <a:xfrm>
            <a:off x="5594250" y="3962409"/>
            <a:ext cx="143827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Training the Machine learning model to address the business problem</a:t>
            </a:r>
            <a:endParaRPr sz="1200" b="1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3"/>
          <p:cNvSpPr txBox="1"/>
          <p:nvPr/>
        </p:nvSpPr>
        <p:spPr>
          <a:xfrm>
            <a:off x="8487680" y="3974785"/>
            <a:ext cx="143827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Deploying the model in clients environment</a:t>
            </a:r>
            <a:endParaRPr sz="1200" b="1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13"/>
          <p:cNvCxnSpPr/>
          <p:nvPr/>
        </p:nvCxnSpPr>
        <p:spPr>
          <a:xfrm>
            <a:off x="1791956" y="2833280"/>
            <a:ext cx="0" cy="427219"/>
          </a:xfrm>
          <a:prstGeom prst="straightConnector1">
            <a:avLst/>
          </a:prstGeom>
          <a:noFill/>
          <a:ln w="25400" cap="flat" cmpd="sng">
            <a:solidFill>
              <a:srgbClr val="0680C3"/>
            </a:solidFill>
            <a:prstDash val="dot"/>
            <a:miter lim="800000"/>
            <a:headEnd type="triangle" w="med" len="med"/>
            <a:tailEnd type="none" w="sm" len="sm"/>
          </a:ln>
        </p:spPr>
      </p:cxnSp>
      <p:cxnSp>
        <p:nvCxnSpPr>
          <p:cNvPr id="320" name="Google Shape;320;p13"/>
          <p:cNvCxnSpPr/>
          <p:nvPr/>
        </p:nvCxnSpPr>
        <p:spPr>
          <a:xfrm>
            <a:off x="3310107" y="2833279"/>
            <a:ext cx="0" cy="427219"/>
          </a:xfrm>
          <a:prstGeom prst="straightConnector1">
            <a:avLst/>
          </a:prstGeom>
          <a:noFill/>
          <a:ln w="25400" cap="flat" cmpd="sng">
            <a:solidFill>
              <a:srgbClr val="07A398"/>
            </a:solidFill>
            <a:prstDash val="dot"/>
            <a:miter lim="800000"/>
            <a:headEnd type="triangle" w="med" len="med"/>
            <a:tailEnd type="none" w="sm" len="sm"/>
          </a:ln>
        </p:spPr>
      </p:cxnSp>
      <p:cxnSp>
        <p:nvCxnSpPr>
          <p:cNvPr id="321" name="Google Shape;321;p13"/>
          <p:cNvCxnSpPr/>
          <p:nvPr/>
        </p:nvCxnSpPr>
        <p:spPr>
          <a:xfrm>
            <a:off x="4806579" y="2833279"/>
            <a:ext cx="0" cy="427219"/>
          </a:xfrm>
          <a:prstGeom prst="straightConnector1">
            <a:avLst/>
          </a:prstGeom>
          <a:noFill/>
          <a:ln w="25400" cap="flat" cmpd="sng">
            <a:solidFill>
              <a:srgbClr val="90C221"/>
            </a:solidFill>
            <a:prstDash val="dot"/>
            <a:miter lim="800000"/>
            <a:headEnd type="triangle" w="med" len="med"/>
            <a:tailEnd type="none" w="sm" len="sm"/>
          </a:ln>
        </p:spPr>
      </p:cxnSp>
      <p:cxnSp>
        <p:nvCxnSpPr>
          <p:cNvPr id="322" name="Google Shape;322;p13"/>
          <p:cNvCxnSpPr/>
          <p:nvPr/>
        </p:nvCxnSpPr>
        <p:spPr>
          <a:xfrm>
            <a:off x="6211989" y="2833278"/>
            <a:ext cx="0" cy="427219"/>
          </a:xfrm>
          <a:prstGeom prst="straightConnector1">
            <a:avLst/>
          </a:prstGeom>
          <a:noFill/>
          <a:ln w="25400" cap="flat" cmpd="sng">
            <a:solidFill>
              <a:srgbClr val="FBA200"/>
            </a:solidFill>
            <a:prstDash val="dot"/>
            <a:miter lim="800000"/>
            <a:headEnd type="triangle" w="med" len="med"/>
            <a:tailEnd type="none" w="sm" len="sm"/>
          </a:ln>
        </p:spPr>
      </p:cxnSp>
      <p:cxnSp>
        <p:nvCxnSpPr>
          <p:cNvPr id="323" name="Google Shape;323;p13"/>
          <p:cNvCxnSpPr/>
          <p:nvPr/>
        </p:nvCxnSpPr>
        <p:spPr>
          <a:xfrm>
            <a:off x="8889334" y="2801703"/>
            <a:ext cx="0" cy="427219"/>
          </a:xfrm>
          <a:prstGeom prst="straightConnector1">
            <a:avLst/>
          </a:prstGeom>
          <a:noFill/>
          <a:ln w="25400" cap="flat" cmpd="sng">
            <a:solidFill>
              <a:srgbClr val="E62601"/>
            </a:solidFill>
            <a:prstDash val="dot"/>
            <a:miter lim="800000"/>
            <a:headEnd type="triangle" w="med" len="med"/>
            <a:tailEnd type="none" w="sm" len="sm"/>
          </a:ln>
        </p:spPr>
      </p:cxnSp>
      <p:sp>
        <p:nvSpPr>
          <p:cNvPr id="324" name="Google Shape;324;p13"/>
          <p:cNvSpPr txBox="1"/>
          <p:nvPr/>
        </p:nvSpPr>
        <p:spPr>
          <a:xfrm>
            <a:off x="1333037" y="2213236"/>
            <a:ext cx="127510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Collection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3"/>
          <p:cNvSpPr txBox="1"/>
          <p:nvPr/>
        </p:nvSpPr>
        <p:spPr>
          <a:xfrm>
            <a:off x="2826465" y="2109689"/>
            <a:ext cx="130410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Exploratory Data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3"/>
          <p:cNvSpPr txBox="1"/>
          <p:nvPr/>
        </p:nvSpPr>
        <p:spPr>
          <a:xfrm>
            <a:off x="4252185" y="2120904"/>
            <a:ext cx="11923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Preprocessing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 txBox="1"/>
          <p:nvPr/>
        </p:nvSpPr>
        <p:spPr>
          <a:xfrm>
            <a:off x="5425705" y="2182647"/>
            <a:ext cx="12337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Building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6743724" y="1922285"/>
            <a:ext cx="1340111" cy="872849"/>
          </a:xfrm>
          <a:prstGeom prst="rect">
            <a:avLst/>
          </a:prstGeom>
          <a:solidFill>
            <a:srgbClr val="8CB3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 txBox="1"/>
          <p:nvPr/>
        </p:nvSpPr>
        <p:spPr>
          <a:xfrm>
            <a:off x="6755491" y="2028569"/>
            <a:ext cx="120312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Selection and Evaluation.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 txBox="1"/>
          <p:nvPr/>
        </p:nvSpPr>
        <p:spPr>
          <a:xfrm>
            <a:off x="8291566" y="2220209"/>
            <a:ext cx="154193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Deployment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7237207" y="3272662"/>
            <a:ext cx="566192" cy="566192"/>
          </a:xfrm>
          <a:prstGeom prst="ellipse">
            <a:avLst/>
          </a:prstGeom>
          <a:solidFill>
            <a:srgbClr val="8CB3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13"/>
          <p:cNvCxnSpPr/>
          <p:nvPr/>
        </p:nvCxnSpPr>
        <p:spPr>
          <a:xfrm>
            <a:off x="7520303" y="2833277"/>
            <a:ext cx="0" cy="427219"/>
          </a:xfrm>
          <a:prstGeom prst="straightConnector1">
            <a:avLst/>
          </a:prstGeom>
          <a:noFill/>
          <a:ln w="25400" cap="flat" cmpd="sng">
            <a:solidFill>
              <a:srgbClr val="8CB3E3"/>
            </a:solidFill>
            <a:prstDash val="dot"/>
            <a:miter lim="800000"/>
            <a:headEnd type="triangle" w="med" len="med"/>
            <a:tailEnd type="none" w="sm" len="sm"/>
          </a:ln>
        </p:spPr>
      </p:cxnSp>
      <p:sp>
        <p:nvSpPr>
          <p:cNvPr id="333" name="Google Shape;333;p13"/>
          <p:cNvSpPr txBox="1"/>
          <p:nvPr/>
        </p:nvSpPr>
        <p:spPr>
          <a:xfrm>
            <a:off x="6977496" y="3972307"/>
            <a:ext cx="14382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Evaluating the model built </a:t>
            </a:r>
            <a:endParaRPr sz="1200" b="1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"/>
          <p:cNvSpPr txBox="1"/>
          <p:nvPr/>
        </p:nvSpPr>
        <p:spPr>
          <a:xfrm>
            <a:off x="254174" y="235958"/>
            <a:ext cx="10515600" cy="951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science Project  lifecycle</a:t>
            </a:r>
            <a:endParaRPr sz="4000" b="1" i="0" u="none" strike="noStrike" cap="none">
              <a:solidFill>
                <a:srgbClr val="C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cxnSp>
        <p:nvCxnSpPr>
          <p:cNvPr id="335" name="Google Shape;335;p13"/>
          <p:cNvCxnSpPr>
            <a:stCxn id="328" idx="0"/>
            <a:endCxn id="304" idx="0"/>
          </p:cNvCxnSpPr>
          <p:nvPr/>
        </p:nvCxnSpPr>
        <p:spPr>
          <a:xfrm rot="5400000" flipH="1">
            <a:off x="4686180" y="-805315"/>
            <a:ext cx="2700" cy="5452500"/>
          </a:xfrm>
          <a:prstGeom prst="bentConnector3">
            <a:avLst>
              <a:gd name="adj1" fmla="val 22228704"/>
            </a:avLst>
          </a:prstGeom>
          <a:noFill/>
          <a:ln w="9525" cap="flat" cmpd="sng">
            <a:solidFill>
              <a:srgbClr val="F2C13F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ba64d7aa66_0_55"/>
          <p:cNvSpPr txBox="1">
            <a:spLocks noGrp="1"/>
          </p:cNvSpPr>
          <p:nvPr>
            <p:ph type="title"/>
          </p:nvPr>
        </p:nvSpPr>
        <p:spPr>
          <a:xfrm>
            <a:off x="838200" y="1275275"/>
            <a:ext cx="10515600" cy="45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b="1" dirty="0">
                <a:solidFill>
                  <a:schemeClr val="tx1"/>
                </a:solidFill>
              </a:rPr>
              <a:t>Let us play with a few AI tools that are free to use and can help in our day-to-day life.</a:t>
            </a:r>
            <a:endParaRPr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 b="1" dirty="0"/>
          </a:p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b="1" dirty="0" err="1"/>
              <a:t>ChatGpt</a:t>
            </a:r>
            <a:endParaRPr sz="2800" b="1" dirty="0"/>
          </a:p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b="1" dirty="0" err="1"/>
              <a:t>Gamma.app</a:t>
            </a:r>
            <a:endParaRPr sz="2800" b="1" dirty="0"/>
          </a:p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b="1" dirty="0"/>
              <a:t>Merlin</a:t>
            </a:r>
            <a:endParaRPr sz="2800" b="1" dirty="0"/>
          </a:p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b="1" dirty="0"/>
              <a:t>Playground</a:t>
            </a:r>
            <a:endParaRPr sz="2800" b="1" dirty="0"/>
          </a:p>
          <a:p>
            <a:pPr marL="45720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b="1" dirty="0" err="1"/>
              <a:t>Yoodli</a:t>
            </a:r>
            <a:endParaRPr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6"/>
          <p:cNvSpPr txBox="1"/>
          <p:nvPr/>
        </p:nvSpPr>
        <p:spPr>
          <a:xfrm>
            <a:off x="475673" y="709349"/>
            <a:ext cx="10515600" cy="879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Job Opportunities in Data Analytics and Data Science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p16"/>
          <p:cNvPicPr preferRelativeResize="0"/>
          <p:nvPr/>
        </p:nvPicPr>
        <p:blipFill rotWithShape="1">
          <a:blip r:embed="rId3">
            <a:alphaModFix/>
          </a:blip>
          <a:srcRect l="2531" t="21187" r="522"/>
          <a:stretch/>
        </p:blipFill>
        <p:spPr>
          <a:xfrm>
            <a:off x="5008232" y="2455734"/>
            <a:ext cx="7183768" cy="404570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6"/>
          <p:cNvSpPr/>
          <p:nvPr/>
        </p:nvSpPr>
        <p:spPr>
          <a:xfrm>
            <a:off x="467639" y="1877705"/>
            <a:ext cx="5145761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If you learn data science, then you get the opportunity to find the various exciting job roles in this domain.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-US" sz="1400" b="0" i="0" u="none" strike="noStrike" cap="none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endParaRPr sz="1400" b="0" i="0" u="none" strike="noStrike" cap="none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467639" y="3095364"/>
            <a:ext cx="4430039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Analyst</a:t>
            </a:r>
            <a:endParaRPr sz="1400" b="0" i="0" u="none" strike="noStrike" cap="none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Business Analyst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Scientist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Engineer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Machine learning engineer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AI Engineer</a:t>
            </a:r>
            <a:endParaRPr sz="1400" b="0" i="0" u="none" strike="noStrike" cap="none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7"/>
          <p:cNvSpPr txBox="1">
            <a:spLocks noGrp="1"/>
          </p:cNvSpPr>
          <p:nvPr>
            <p:ph type="title"/>
          </p:nvPr>
        </p:nvSpPr>
        <p:spPr>
          <a:xfrm>
            <a:off x="15240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200" b="1" dirty="0"/>
              <a:t>Role of Data Scientist</a:t>
            </a:r>
            <a:endParaRPr dirty="0"/>
          </a:p>
        </p:txBody>
      </p:sp>
      <p:sp>
        <p:nvSpPr>
          <p:cNvPr id="362" name="Google Shape;362;p17"/>
          <p:cNvSpPr txBox="1"/>
          <p:nvPr/>
        </p:nvSpPr>
        <p:spPr>
          <a:xfrm>
            <a:off x="1332931" y="677595"/>
            <a:ext cx="8611738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is extensive use of mathematics and statistics, the use of descriptive techniques and predictive models to gain valuable knowledge from data.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insights from data are used to recommend action or to guide decision making rooted in business context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oogle Shape;363;p17"/>
          <p:cNvGrpSpPr/>
          <p:nvPr/>
        </p:nvGrpSpPr>
        <p:grpSpPr>
          <a:xfrm>
            <a:off x="2991686" y="2308811"/>
            <a:ext cx="5474377" cy="2038023"/>
            <a:chOff x="0" y="0"/>
            <a:chExt cx="5474377" cy="2038023"/>
          </a:xfrm>
        </p:grpSpPr>
        <p:sp>
          <p:nvSpPr>
            <p:cNvPr id="364" name="Google Shape;364;p17"/>
            <p:cNvSpPr/>
            <p:nvPr/>
          </p:nvSpPr>
          <p:spPr>
            <a:xfrm>
              <a:off x="0" y="0"/>
              <a:ext cx="5474377" cy="50786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7"/>
            <p:cNvSpPr txBox="1"/>
            <p:nvPr/>
          </p:nvSpPr>
          <p:spPr>
            <a:xfrm>
              <a:off x="0" y="0"/>
              <a:ext cx="5474377" cy="507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r>
                <a:rPr lang="en-US" sz="2400" dirty="0"/>
                <a:t> Scientist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2673" y="509102"/>
              <a:ext cx="1823010" cy="1467016"/>
            </a:xfrm>
            <a:prstGeom prst="rect">
              <a:avLst/>
            </a:prstGeom>
            <a:solidFill>
              <a:srgbClr val="92D05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7"/>
            <p:cNvSpPr txBox="1"/>
            <p:nvPr/>
          </p:nvSpPr>
          <p:spPr>
            <a:xfrm>
              <a:off x="2673" y="509102"/>
              <a:ext cx="1823010" cy="14670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Descriptive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Analytics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1825683" y="509102"/>
              <a:ext cx="1823010" cy="1467016"/>
            </a:xfrm>
            <a:prstGeom prst="rect">
              <a:avLst/>
            </a:prstGeom>
            <a:solidFill>
              <a:srgbClr val="0464BC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7"/>
            <p:cNvSpPr txBox="1"/>
            <p:nvPr/>
          </p:nvSpPr>
          <p:spPr>
            <a:xfrm>
              <a:off x="1825683" y="509102"/>
              <a:ext cx="1823010" cy="14670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Predictive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Analytics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7"/>
            <p:cNvSpPr/>
            <p:nvPr/>
          </p:nvSpPr>
          <p:spPr>
            <a:xfrm>
              <a:off x="3648693" y="509102"/>
              <a:ext cx="1823010" cy="1467016"/>
            </a:xfrm>
            <a:prstGeom prst="rect">
              <a:avLst/>
            </a:prstGeom>
            <a:solidFill>
              <a:srgbClr val="C4E0B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7"/>
            <p:cNvSpPr txBox="1"/>
            <p:nvPr/>
          </p:nvSpPr>
          <p:spPr>
            <a:xfrm>
              <a:off x="3648693" y="509102"/>
              <a:ext cx="1823010" cy="14670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Prescriptive</a:t>
              </a:r>
              <a:r>
                <a:rPr lang="en-US" sz="16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Analytics</a:t>
              </a:r>
              <a:endPara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0" y="1893403"/>
              <a:ext cx="5474377" cy="144620"/>
            </a:xfrm>
            <a:prstGeom prst="rect">
              <a:avLst/>
            </a:prstGeom>
            <a:solidFill>
              <a:srgbClr val="DCB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3" name="Google Shape;373;p17"/>
          <p:cNvSpPr txBox="1"/>
          <p:nvPr/>
        </p:nvSpPr>
        <p:spPr>
          <a:xfrm>
            <a:off x="941393" y="4761309"/>
            <a:ext cx="8557148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Descriptive Analytics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– Analyzing historical data using aggregation, visualization, and data mining to understand patterns and trends. This helps answer the question: </a:t>
            </a:r>
            <a:r>
              <a:rPr lang="en-US" b="1" dirty="0"/>
              <a:t>“What has happened?”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Predictive Analytics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– Building statistical models and using forecasting techniques to anticipate future outcomes. This helps answer: </a:t>
            </a:r>
            <a:r>
              <a:rPr lang="en-US" b="1" dirty="0"/>
              <a:t>“What could happen?”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Prescriptive Analytics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– Applying optimization, machine learning, and simulation algorithms to suggest the best course of action. This addresses the question: </a:t>
            </a:r>
            <a:r>
              <a:rPr lang="en-US" b="1" dirty="0"/>
              <a:t>“What should we do?”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9"/>
          <p:cNvSpPr txBox="1"/>
          <p:nvPr/>
        </p:nvSpPr>
        <p:spPr>
          <a:xfrm>
            <a:off x="353300" y="305318"/>
            <a:ext cx="10515600" cy="14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Who can Learn - Prerequisite for data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oogle Shape;386;p19"/>
          <p:cNvGrpSpPr/>
          <p:nvPr/>
        </p:nvGrpSpPr>
        <p:grpSpPr>
          <a:xfrm>
            <a:off x="935194" y="2105654"/>
            <a:ext cx="9933703" cy="3582877"/>
            <a:chOff x="0" y="535088"/>
            <a:chExt cx="9933703" cy="2132071"/>
          </a:xfrm>
        </p:grpSpPr>
        <p:sp>
          <p:nvSpPr>
            <p:cNvPr id="387" name="Google Shape;387;p19"/>
            <p:cNvSpPr/>
            <p:nvPr/>
          </p:nvSpPr>
          <p:spPr>
            <a:xfrm>
              <a:off x="0" y="535088"/>
              <a:ext cx="9933703" cy="1306019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alpha val="69411"/>
              </a:scheme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9"/>
            <p:cNvSpPr txBox="1"/>
            <p:nvPr/>
          </p:nvSpPr>
          <p:spPr>
            <a:xfrm>
              <a:off x="38252" y="573340"/>
              <a:ext cx="9857199" cy="12295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Who can Learn Data Science?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9"/>
            <p:cNvSpPr/>
            <p:nvPr/>
          </p:nvSpPr>
          <p:spPr>
            <a:xfrm>
              <a:off x="0" y="1964938"/>
              <a:ext cx="2452432" cy="702221"/>
            </a:xfrm>
            <a:prstGeom prst="roundRect">
              <a:avLst>
                <a:gd name="adj" fmla="val 10000"/>
              </a:avLst>
            </a:prstGeom>
            <a:solidFill>
              <a:srgbClr val="6C6745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9"/>
            <p:cNvSpPr txBox="1"/>
            <p:nvPr/>
          </p:nvSpPr>
          <p:spPr>
            <a:xfrm>
              <a:off x="20567" y="1985505"/>
              <a:ext cx="2411298" cy="661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 b="0" i="0" u="none" strike="noStrike" cap="none" dirty="0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Any Graduate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9"/>
            <p:cNvSpPr/>
            <p:nvPr/>
          </p:nvSpPr>
          <p:spPr>
            <a:xfrm>
              <a:off x="4390696" y="1983722"/>
              <a:ext cx="2703258" cy="664639"/>
            </a:xfrm>
            <a:prstGeom prst="roundRect">
              <a:avLst>
                <a:gd name="adj" fmla="val 10000"/>
              </a:avLst>
            </a:prstGeom>
            <a:solidFill>
              <a:srgbClr val="C00000">
                <a:alpha val="69411"/>
              </a:srgb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9"/>
            <p:cNvSpPr txBox="1"/>
            <p:nvPr/>
          </p:nvSpPr>
          <p:spPr>
            <a:xfrm>
              <a:off x="4410163" y="2003189"/>
              <a:ext cx="2664324" cy="6257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No prior coding skills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9"/>
            <p:cNvSpPr/>
            <p:nvPr/>
          </p:nvSpPr>
          <p:spPr>
            <a:xfrm>
              <a:off x="2567911" y="1975107"/>
              <a:ext cx="1739987" cy="681051"/>
            </a:xfrm>
            <a:prstGeom prst="roundRect">
              <a:avLst>
                <a:gd name="adj" fmla="val 10000"/>
              </a:avLst>
            </a:prstGeom>
            <a:solidFill>
              <a:srgbClr val="AEABAB">
                <a:alpha val="69411"/>
              </a:srgb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9"/>
            <p:cNvSpPr txBox="1"/>
            <p:nvPr/>
          </p:nvSpPr>
          <p:spPr>
            <a:xfrm>
              <a:off x="2587858" y="1995054"/>
              <a:ext cx="1700093" cy="6411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3000" b="0" i="0" u="none" strike="noStrike" cap="non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Non-IT</a:t>
              </a:r>
              <a:r>
                <a:rPr lang="en-US" sz="3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9"/>
            <p:cNvSpPr/>
            <p:nvPr/>
          </p:nvSpPr>
          <p:spPr>
            <a:xfrm>
              <a:off x="7146603" y="1972311"/>
              <a:ext cx="2787099" cy="685809"/>
            </a:xfrm>
            <a:prstGeom prst="roundRect">
              <a:avLst>
                <a:gd name="adj" fmla="val 10000"/>
              </a:avLst>
            </a:prstGeom>
            <a:solidFill>
              <a:srgbClr val="BF9000">
                <a:alpha val="69411"/>
              </a:srgb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9"/>
            <p:cNvSpPr txBox="1"/>
            <p:nvPr/>
          </p:nvSpPr>
          <p:spPr>
            <a:xfrm>
              <a:off x="7166690" y="1992398"/>
              <a:ext cx="2746925" cy="645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Exceptional curiosity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8"/>
          <p:cNvSpPr txBox="1">
            <a:spLocks noGrp="1"/>
          </p:cNvSpPr>
          <p:nvPr>
            <p:ph type="title"/>
          </p:nvPr>
        </p:nvSpPr>
        <p:spPr>
          <a:xfrm>
            <a:off x="8382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b="1" dirty="0"/>
              <a:t>What are the Required Skills to be a Data Scientist?</a:t>
            </a:r>
            <a:endParaRPr b="1" dirty="0"/>
          </a:p>
        </p:txBody>
      </p:sp>
      <p:sp>
        <p:nvSpPr>
          <p:cNvPr id="6" name="Rectangle 5"/>
          <p:cNvSpPr/>
          <p:nvPr/>
        </p:nvSpPr>
        <p:spPr>
          <a:xfrm>
            <a:off x="724278" y="1104523"/>
            <a:ext cx="1086415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/>
              <a:t>Becoming a successful data scientist requires a blend of both technical proficiency and soft skills.</a:t>
            </a:r>
          </a:p>
          <a:p>
            <a:endParaRPr lang="en-US" sz="1600" dirty="0"/>
          </a:p>
          <a:p>
            <a:r>
              <a:rPr lang="en-US" sz="1600" b="1" dirty="0"/>
              <a:t>Formal Education</a:t>
            </a:r>
          </a:p>
          <a:p>
            <a:r>
              <a:rPr lang="en-US" sz="1600" dirty="0"/>
              <a:t>A graduation is usually the basic requirement to start a career in data scientist.</a:t>
            </a:r>
          </a:p>
          <a:p>
            <a:r>
              <a:rPr lang="en-US" sz="1600" dirty="0"/>
              <a:t>Alternatively, individuals with the right skills and practical experience can also get entry-level roles in data science.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800" b="1" dirty="0">
                <a:solidFill>
                  <a:srgbClr val="0070C0"/>
                </a:solidFill>
              </a:rPr>
              <a:t>      Technical Skills</a:t>
            </a:r>
          </a:p>
          <a:p>
            <a:r>
              <a:rPr lang="en-US" sz="1800" b="1" dirty="0"/>
              <a:t>Programming Languages</a:t>
            </a:r>
            <a:r>
              <a:rPr lang="en-US" sz="1800" dirty="0"/>
              <a:t>. </a:t>
            </a:r>
          </a:p>
          <a:p>
            <a:r>
              <a:rPr lang="en-US" sz="1800" b="1" dirty="0"/>
              <a:t>Databases and SQL</a:t>
            </a:r>
            <a:r>
              <a:rPr lang="en-US" sz="1800" dirty="0"/>
              <a:t>. </a:t>
            </a:r>
          </a:p>
          <a:p>
            <a:r>
              <a:rPr lang="en-US" sz="1800" b="1" dirty="0"/>
              <a:t>Data Visualization Tools</a:t>
            </a:r>
            <a:r>
              <a:rPr lang="en-US" sz="1800" dirty="0"/>
              <a:t>.</a:t>
            </a:r>
          </a:p>
          <a:p>
            <a:r>
              <a:rPr lang="en-US" sz="1800" b="1" dirty="0"/>
              <a:t>Statistics</a:t>
            </a:r>
          </a:p>
          <a:p>
            <a:r>
              <a:rPr lang="en-US" sz="1800" b="1" dirty="0"/>
              <a:t>AI</a:t>
            </a:r>
            <a:r>
              <a:rPr lang="en-US" sz="1800" dirty="0"/>
              <a:t> </a:t>
            </a:r>
            <a:r>
              <a:rPr lang="en-US" sz="1800" b="1" dirty="0"/>
              <a:t>/ Machine Learning</a:t>
            </a:r>
          </a:p>
          <a:p>
            <a:r>
              <a:rPr lang="en-US" sz="1800" b="1" dirty="0"/>
              <a:t>Deep Learning</a:t>
            </a:r>
          </a:p>
          <a:p>
            <a:endParaRPr lang="en-US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701839" y="2788467"/>
            <a:ext cx="3387561" cy="221533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418907" y="2725094"/>
            <a:ext cx="401904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</a:rPr>
              <a:t>                     Soft Skills</a:t>
            </a:r>
          </a:p>
          <a:p>
            <a:r>
              <a:rPr lang="en-US" sz="1700" b="1" dirty="0"/>
              <a:t>Critical Thinking</a:t>
            </a:r>
          </a:p>
          <a:p>
            <a:r>
              <a:rPr lang="en-US" sz="1700" b="1" dirty="0"/>
              <a:t>Problem-Solving</a:t>
            </a:r>
            <a:r>
              <a:rPr lang="en-US" sz="1700" dirty="0"/>
              <a:t>. </a:t>
            </a:r>
          </a:p>
          <a:p>
            <a:r>
              <a:rPr lang="en-US" sz="1700" b="1" dirty="0"/>
              <a:t>Communication and Storytelling</a:t>
            </a:r>
            <a:r>
              <a:rPr lang="en-US" sz="1700" dirty="0"/>
              <a:t>. </a:t>
            </a:r>
          </a:p>
          <a:p>
            <a:r>
              <a:rPr lang="en-US" sz="1700" b="1" dirty="0"/>
              <a:t>Curiosity and Continuous Learning</a:t>
            </a:r>
            <a:r>
              <a:rPr lang="en-US" sz="1700" dirty="0"/>
              <a:t>. </a:t>
            </a:r>
          </a:p>
          <a:p>
            <a:r>
              <a:rPr lang="en-US" sz="1700" b="1" dirty="0"/>
              <a:t>Collaboration and Teamwork</a:t>
            </a:r>
            <a:r>
              <a:rPr lang="en-US" sz="1700" dirty="0"/>
              <a:t>. </a:t>
            </a:r>
          </a:p>
          <a:p>
            <a:endParaRPr lang="en-US" sz="1200" dirty="0"/>
          </a:p>
        </p:txBody>
      </p:sp>
      <p:sp>
        <p:nvSpPr>
          <p:cNvPr id="9" name="Rounded Rectangle 8"/>
          <p:cNvSpPr/>
          <p:nvPr/>
        </p:nvSpPr>
        <p:spPr>
          <a:xfrm>
            <a:off x="6399290" y="2705474"/>
            <a:ext cx="4021249" cy="181220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88054" y="5743317"/>
            <a:ext cx="10059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By cultivating this unique combination of technical expertise and soft skills, individuals can position </a:t>
            </a:r>
          </a:p>
          <a:p>
            <a:r>
              <a:rPr lang="en-US" sz="1600" b="1" dirty="0"/>
              <a:t>themselves for success in the growing field of data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5600" y="5707103"/>
            <a:ext cx="10179924" cy="64279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0"/>
          <p:cNvSpPr txBox="1">
            <a:spLocks noGrp="1"/>
          </p:cNvSpPr>
          <p:nvPr>
            <p:ph type="body" idx="1"/>
          </p:nvPr>
        </p:nvSpPr>
        <p:spPr>
          <a:xfrm>
            <a:off x="267725" y="558450"/>
            <a:ext cx="115653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Roadmap to become a Data Scientist</a:t>
            </a:r>
            <a:endParaRPr/>
          </a:p>
        </p:txBody>
      </p:sp>
      <p:sp>
        <p:nvSpPr>
          <p:cNvPr id="402" name="Google Shape;402;p20"/>
          <p:cNvSpPr txBox="1"/>
          <p:nvPr/>
        </p:nvSpPr>
        <p:spPr>
          <a:xfrm>
            <a:off x="7330311" y="5702287"/>
            <a:ext cx="402124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Learning, Computer Vision and NLP (AI)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0"/>
          <p:cNvSpPr txBox="1"/>
          <p:nvPr/>
        </p:nvSpPr>
        <p:spPr>
          <a:xfrm>
            <a:off x="7330311" y="4082215"/>
            <a:ext cx="402124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Mathematics</a:t>
            </a:r>
            <a:r>
              <a:rPr lang="en-US" sz="1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Algebra. Matrices, etc.,)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0"/>
          <p:cNvSpPr txBox="1"/>
          <p:nvPr/>
        </p:nvSpPr>
        <p:spPr>
          <a:xfrm>
            <a:off x="7306352" y="2851150"/>
            <a:ext cx="402124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Statistics and Probability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0"/>
          <p:cNvSpPr txBox="1"/>
          <p:nvPr/>
        </p:nvSpPr>
        <p:spPr>
          <a:xfrm>
            <a:off x="7235318" y="1967998"/>
            <a:ext cx="402124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Python – Core, Advanced and Data Analysis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0"/>
          <p:cNvSpPr txBox="1"/>
          <p:nvPr/>
        </p:nvSpPr>
        <p:spPr>
          <a:xfrm>
            <a:off x="7330311" y="4854816"/>
            <a:ext cx="402124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oogle Shape;407;p20"/>
          <p:cNvGrpSpPr/>
          <p:nvPr/>
        </p:nvGrpSpPr>
        <p:grpSpPr>
          <a:xfrm rot="10800000" flipH="1">
            <a:off x="610098" y="2901354"/>
            <a:ext cx="2127533" cy="2127533"/>
            <a:chOff x="6876256" y="3063517"/>
            <a:chExt cx="1944216" cy="1944216"/>
          </a:xfrm>
        </p:grpSpPr>
        <p:sp>
          <p:nvSpPr>
            <p:cNvPr id="408" name="Google Shape;408;p20"/>
            <p:cNvSpPr/>
            <p:nvPr/>
          </p:nvSpPr>
          <p:spPr>
            <a:xfrm>
              <a:off x="6876256" y="3063517"/>
              <a:ext cx="1944216" cy="1944216"/>
            </a:xfrm>
            <a:prstGeom prst="ellipse">
              <a:avLst/>
            </a:prstGeom>
            <a:solidFill>
              <a:schemeClr val="lt1"/>
            </a:solidFill>
            <a:ln w="165100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1"/>
                <a:buFont typeface="Arial"/>
                <a:buNone/>
              </a:pPr>
              <a:endParaRPr sz="2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0"/>
            <p:cNvSpPr/>
            <p:nvPr/>
          </p:nvSpPr>
          <p:spPr>
            <a:xfrm>
              <a:off x="7165759" y="3353020"/>
              <a:ext cx="1365211" cy="1365211"/>
            </a:xfrm>
            <a:prstGeom prst="ellipse">
              <a:avLst/>
            </a:prstGeom>
            <a:solidFill>
              <a:schemeClr val="lt1"/>
            </a:solidFill>
            <a:ln w="165100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1"/>
                <a:buFont typeface="Arial"/>
                <a:buNone/>
              </a:pPr>
              <a:endParaRPr sz="2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0"/>
            <p:cNvSpPr/>
            <p:nvPr/>
          </p:nvSpPr>
          <p:spPr>
            <a:xfrm>
              <a:off x="7487073" y="3674334"/>
              <a:ext cx="722583" cy="722583"/>
            </a:xfrm>
            <a:prstGeom prst="ellipse">
              <a:avLst/>
            </a:prstGeom>
            <a:solidFill>
              <a:schemeClr val="accent4"/>
            </a:solidFill>
            <a:ln w="165100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1"/>
                <a:buFont typeface="Arial"/>
                <a:buNone/>
              </a:pPr>
              <a:endParaRPr sz="2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1" name="Google Shape;411;p20"/>
          <p:cNvSpPr/>
          <p:nvPr/>
        </p:nvSpPr>
        <p:spPr>
          <a:xfrm>
            <a:off x="6661460" y="4695999"/>
            <a:ext cx="594864" cy="59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r>
              <a:rPr lang="en-US" sz="270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701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6683325" y="3456243"/>
            <a:ext cx="580829" cy="4916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r>
              <a:rPr lang="en-US" sz="270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701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6656598" y="2756746"/>
            <a:ext cx="594864" cy="5948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r>
              <a:rPr lang="en-US" sz="270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701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0"/>
          <p:cNvSpPr/>
          <p:nvPr/>
        </p:nvSpPr>
        <p:spPr>
          <a:xfrm rot="10800000">
            <a:off x="3615054" y="3707091"/>
            <a:ext cx="1400486" cy="276883"/>
          </a:xfrm>
          <a:prstGeom prst="parallelogram">
            <a:avLst>
              <a:gd name="adj" fmla="val 19222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6656598" y="5525306"/>
            <a:ext cx="594864" cy="5948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r>
              <a:rPr lang="en-US" sz="270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701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6656598" y="1833893"/>
            <a:ext cx="594864" cy="594864"/>
          </a:xfrm>
          <a:prstGeom prst="rect">
            <a:avLst/>
          </a:prstGeom>
          <a:solidFill>
            <a:srgbClr val="FFC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r>
              <a:rPr lang="en-US" sz="270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701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4488662" y="3794697"/>
            <a:ext cx="966653" cy="5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4488662" y="3871949"/>
            <a:ext cx="966653" cy="557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4488662" y="3949201"/>
            <a:ext cx="966653" cy="55762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0"/>
          <p:cNvSpPr/>
          <p:nvPr/>
        </p:nvSpPr>
        <p:spPr>
          <a:xfrm>
            <a:off x="4488662" y="4026453"/>
            <a:ext cx="966653" cy="557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0"/>
          <p:cNvSpPr/>
          <p:nvPr/>
        </p:nvSpPr>
        <p:spPr>
          <a:xfrm>
            <a:off x="4488662" y="4103704"/>
            <a:ext cx="966653" cy="557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oogle Shape;422;p20"/>
          <p:cNvGrpSpPr/>
          <p:nvPr/>
        </p:nvGrpSpPr>
        <p:grpSpPr>
          <a:xfrm>
            <a:off x="1673863" y="3293583"/>
            <a:ext cx="3404656" cy="1389502"/>
            <a:chOff x="903886" y="3310560"/>
            <a:chExt cx="3297058" cy="1345589"/>
          </a:xfrm>
        </p:grpSpPr>
        <p:sp>
          <p:nvSpPr>
            <p:cNvPr id="423" name="Google Shape;423;p20"/>
            <p:cNvSpPr/>
            <p:nvPr/>
          </p:nvSpPr>
          <p:spPr>
            <a:xfrm>
              <a:off x="903886" y="3968006"/>
              <a:ext cx="704227" cy="36000"/>
            </a:xfrm>
            <a:custGeom>
              <a:avLst/>
              <a:gdLst/>
              <a:ahLst/>
              <a:cxnLst/>
              <a:rect l="l" t="t" r="r" b="b"/>
              <a:pathLst>
                <a:path w="704227" h="36000" extrusionOk="0">
                  <a:moveTo>
                    <a:pt x="0" y="0"/>
                  </a:moveTo>
                  <a:lnTo>
                    <a:pt x="704227" y="0"/>
                  </a:lnTo>
                  <a:lnTo>
                    <a:pt x="704227" y="36000"/>
                  </a:lnTo>
                  <a:lnTo>
                    <a:pt x="0" y="3600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1"/>
                <a:buFont typeface="Arial"/>
                <a:buNone/>
              </a:pPr>
              <a:endParaRPr sz="270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" name="Google Shape;424;p20"/>
            <p:cNvGrpSpPr/>
            <p:nvPr/>
          </p:nvGrpSpPr>
          <p:grpSpPr>
            <a:xfrm>
              <a:off x="1475656" y="3310560"/>
              <a:ext cx="2725288" cy="1345589"/>
              <a:chOff x="1475656" y="3310560"/>
              <a:chExt cx="2725288" cy="1345589"/>
            </a:xfrm>
          </p:grpSpPr>
          <p:sp>
            <p:nvSpPr>
              <p:cNvPr id="425" name="Google Shape;425;p20"/>
              <p:cNvSpPr/>
              <p:nvPr/>
            </p:nvSpPr>
            <p:spPr>
              <a:xfrm rot="10680000" flipH="1">
                <a:off x="2793780" y="4038224"/>
                <a:ext cx="1201835" cy="597135"/>
              </a:xfrm>
              <a:prstGeom prst="parallelogram">
                <a:avLst>
                  <a:gd name="adj" fmla="val 62269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01"/>
                  <a:buFont typeface="Arial"/>
                  <a:buNone/>
                </a:pPr>
                <a:endParaRPr sz="2701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20"/>
              <p:cNvSpPr/>
              <p:nvPr/>
            </p:nvSpPr>
            <p:spPr>
              <a:xfrm rot="-10680000">
                <a:off x="2793780" y="3331350"/>
                <a:ext cx="1201835" cy="597135"/>
              </a:xfrm>
              <a:prstGeom prst="parallelogram">
                <a:avLst>
                  <a:gd name="adj" fmla="val 62269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01"/>
                  <a:buFont typeface="Arial"/>
                  <a:buNone/>
                </a:pPr>
                <a:endParaRPr sz="2701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" name="Google Shape;427;p20"/>
              <p:cNvGrpSpPr/>
              <p:nvPr/>
            </p:nvGrpSpPr>
            <p:grpSpPr>
              <a:xfrm>
                <a:off x="1475656" y="3862961"/>
                <a:ext cx="2152332" cy="246090"/>
                <a:chOff x="1688158" y="3440847"/>
                <a:chExt cx="1659706" cy="379529"/>
              </a:xfrm>
            </p:grpSpPr>
            <p:sp>
              <p:nvSpPr>
                <p:cNvPr id="428" name="Google Shape;428;p20"/>
                <p:cNvSpPr/>
                <p:nvPr/>
              </p:nvSpPr>
              <p:spPr>
                <a:xfrm rot="5400000" flipH="1">
                  <a:off x="2653493" y="3090551"/>
                  <a:ext cx="308621" cy="1080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621" h="1080120" extrusionOk="0">
                      <a:moveTo>
                        <a:pt x="308621" y="1080120"/>
                      </a:moveTo>
                      <a:lnTo>
                        <a:pt x="232649" y="0"/>
                      </a:lnTo>
                      <a:lnTo>
                        <a:pt x="75972" y="0"/>
                      </a:lnTo>
                      <a:lnTo>
                        <a:pt x="0" y="108012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701"/>
                    <a:buFont typeface="Arial"/>
                    <a:buNone/>
                  </a:pPr>
                  <a:endParaRPr sz="2701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" name="Google Shape;429;p20"/>
                <p:cNvSpPr/>
                <p:nvPr/>
              </p:nvSpPr>
              <p:spPr>
                <a:xfrm>
                  <a:off x="1688158" y="3454556"/>
                  <a:ext cx="155575" cy="352111"/>
                </a:xfrm>
                <a:prstGeom prst="chord">
                  <a:avLst>
                    <a:gd name="adj1" fmla="val 5391179"/>
                    <a:gd name="adj2" fmla="val 16200000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701"/>
                    <a:buFont typeface="Arial"/>
                    <a:buNone/>
                  </a:pPr>
                  <a:endParaRPr sz="2701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" name="Google Shape;430;p20"/>
                <p:cNvSpPr/>
                <p:nvPr/>
              </p:nvSpPr>
              <p:spPr>
                <a:xfrm rot="5400000" flipH="1">
                  <a:off x="1825951" y="3378583"/>
                  <a:ext cx="379529" cy="504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529" h="504056" extrusionOk="0">
                      <a:moveTo>
                        <a:pt x="379529" y="504056"/>
                      </a:moveTo>
                      <a:lnTo>
                        <a:pt x="344075" y="0"/>
                      </a:lnTo>
                      <a:lnTo>
                        <a:pt x="35454" y="0"/>
                      </a:lnTo>
                      <a:lnTo>
                        <a:pt x="0" y="504056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701"/>
                    <a:buFont typeface="Arial"/>
                    <a:buNone/>
                  </a:pPr>
                  <a:endParaRPr sz="2701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1" name="Google Shape;431;p20"/>
              <p:cNvSpPr/>
              <p:nvPr/>
            </p:nvSpPr>
            <p:spPr>
              <a:xfrm rot="10800000" flipH="1">
                <a:off x="2788579" y="3979133"/>
                <a:ext cx="1412365" cy="268133"/>
              </a:xfrm>
              <a:prstGeom prst="parallelogram">
                <a:avLst>
                  <a:gd name="adj" fmla="val 205867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01"/>
                  <a:buFont typeface="Arial"/>
                  <a:buNone/>
                </a:pPr>
                <a:endParaRPr sz="2701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32" name="Google Shape;432;p20"/>
          <p:cNvSpPr/>
          <p:nvPr/>
        </p:nvSpPr>
        <p:spPr>
          <a:xfrm>
            <a:off x="5453688" y="1833896"/>
            <a:ext cx="1204814" cy="2019981"/>
          </a:xfrm>
          <a:custGeom>
            <a:avLst/>
            <a:gdLst/>
            <a:ahLst/>
            <a:cxnLst/>
            <a:rect l="l" t="t" r="r" b="b"/>
            <a:pathLst>
              <a:path w="1183065" h="1956143" extrusionOk="0">
                <a:moveTo>
                  <a:pt x="457" y="1901373"/>
                </a:moveTo>
                <a:lnTo>
                  <a:pt x="1180112" y="0"/>
                </a:lnTo>
                <a:cubicBezTo>
                  <a:pt x="1181245" y="193422"/>
                  <a:pt x="1181932" y="379030"/>
                  <a:pt x="1183065" y="572452"/>
                </a:cubicBezTo>
                <a:lnTo>
                  <a:pt x="0" y="1956143"/>
                </a:lnTo>
                <a:cubicBezTo>
                  <a:pt x="152" y="1939424"/>
                  <a:pt x="305" y="1918092"/>
                  <a:pt x="457" y="1901373"/>
                </a:cubicBezTo>
                <a:close/>
              </a:path>
            </a:pathLst>
          </a:custGeom>
          <a:solidFill>
            <a:srgbClr val="FFC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0"/>
          <p:cNvSpPr/>
          <p:nvPr/>
        </p:nvSpPr>
        <p:spPr>
          <a:xfrm>
            <a:off x="5453785" y="2756746"/>
            <a:ext cx="1204719" cy="1171728"/>
          </a:xfrm>
          <a:custGeom>
            <a:avLst/>
            <a:gdLst/>
            <a:ahLst/>
            <a:cxnLst/>
            <a:rect l="l" t="t" r="r" b="b"/>
            <a:pathLst>
              <a:path w="1182972" h="1134698" extrusionOk="0">
                <a:moveTo>
                  <a:pt x="32" y="1082755"/>
                </a:moveTo>
                <a:lnTo>
                  <a:pt x="1182019" y="0"/>
                </a:lnTo>
                <a:cubicBezTo>
                  <a:pt x="1182337" y="191213"/>
                  <a:pt x="1182654" y="387760"/>
                  <a:pt x="1182972" y="578973"/>
                </a:cubicBezTo>
                <a:lnTo>
                  <a:pt x="1522" y="1134698"/>
                </a:lnTo>
                <a:cubicBezTo>
                  <a:pt x="1840" y="1116569"/>
                  <a:pt x="-286" y="1100884"/>
                  <a:pt x="32" y="108275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0"/>
          <p:cNvSpPr/>
          <p:nvPr/>
        </p:nvSpPr>
        <p:spPr>
          <a:xfrm rot="-524753">
            <a:off x="5440939" y="3560495"/>
            <a:ext cx="1283278" cy="485730"/>
          </a:xfrm>
          <a:custGeom>
            <a:avLst/>
            <a:gdLst/>
            <a:ahLst/>
            <a:cxnLst/>
            <a:rect l="l" t="t" r="r" b="b"/>
            <a:pathLst>
              <a:path w="1183026" h="575743" extrusionOk="0">
                <a:moveTo>
                  <a:pt x="2423" y="261965"/>
                </a:moveTo>
                <a:cubicBezTo>
                  <a:pt x="-3106" y="295430"/>
                  <a:pt x="2736" y="276999"/>
                  <a:pt x="1457" y="315354"/>
                </a:cubicBezTo>
                <a:lnTo>
                  <a:pt x="1183026" y="575743"/>
                </a:lnTo>
                <a:lnTo>
                  <a:pt x="1180581" y="0"/>
                </a:lnTo>
                <a:lnTo>
                  <a:pt x="2423" y="2619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0"/>
          <p:cNvSpPr/>
          <p:nvPr/>
        </p:nvSpPr>
        <p:spPr>
          <a:xfrm rot="10800000" flipH="1">
            <a:off x="5455871" y="4102851"/>
            <a:ext cx="1202632" cy="2016763"/>
          </a:xfrm>
          <a:custGeom>
            <a:avLst/>
            <a:gdLst/>
            <a:ahLst/>
            <a:cxnLst/>
            <a:rect l="l" t="t" r="r" b="b"/>
            <a:pathLst>
              <a:path w="1180923" h="1953027" extrusionOk="0">
                <a:moveTo>
                  <a:pt x="456" y="1895953"/>
                </a:moveTo>
                <a:lnTo>
                  <a:pt x="1180578" y="0"/>
                </a:lnTo>
                <a:cubicBezTo>
                  <a:pt x="1181711" y="193422"/>
                  <a:pt x="1179593" y="381096"/>
                  <a:pt x="1180726" y="574518"/>
                </a:cubicBezTo>
                <a:lnTo>
                  <a:pt x="0" y="1953027"/>
                </a:lnTo>
                <a:cubicBezTo>
                  <a:pt x="152" y="1936308"/>
                  <a:pt x="304" y="1912672"/>
                  <a:pt x="456" y="189595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0"/>
          <p:cNvSpPr/>
          <p:nvPr/>
        </p:nvSpPr>
        <p:spPr>
          <a:xfrm rot="-10538883" flipH="1">
            <a:off x="5402048" y="4058442"/>
            <a:ext cx="1311373" cy="1174482"/>
          </a:xfrm>
          <a:custGeom>
            <a:avLst/>
            <a:gdLst/>
            <a:ahLst/>
            <a:cxnLst/>
            <a:rect l="l" t="t" r="r" b="b"/>
            <a:pathLst>
              <a:path w="1182972" h="1137365" extrusionOk="0">
                <a:moveTo>
                  <a:pt x="32" y="1085422"/>
                </a:moveTo>
                <a:lnTo>
                  <a:pt x="1182019" y="0"/>
                </a:lnTo>
                <a:cubicBezTo>
                  <a:pt x="1182337" y="191213"/>
                  <a:pt x="1182654" y="385093"/>
                  <a:pt x="1182972" y="576306"/>
                </a:cubicBezTo>
                <a:lnTo>
                  <a:pt x="1522" y="1137365"/>
                </a:lnTo>
                <a:cubicBezTo>
                  <a:pt x="1840" y="1119236"/>
                  <a:pt x="-286" y="1103551"/>
                  <a:pt x="32" y="10854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0"/>
          <p:cNvSpPr txBox="1"/>
          <p:nvPr/>
        </p:nvSpPr>
        <p:spPr>
          <a:xfrm>
            <a:off x="926898" y="2204503"/>
            <a:ext cx="154573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Science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0"/>
          <p:cNvSpPr/>
          <p:nvPr/>
        </p:nvSpPr>
        <p:spPr>
          <a:xfrm>
            <a:off x="6711488" y="4006850"/>
            <a:ext cx="594864" cy="539102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r>
              <a:rPr lang="en-US" sz="270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701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0"/>
          <p:cNvSpPr/>
          <p:nvPr/>
        </p:nvSpPr>
        <p:spPr>
          <a:xfrm rot="737215">
            <a:off x="5412117" y="3843690"/>
            <a:ext cx="1385530" cy="563097"/>
          </a:xfrm>
          <a:custGeom>
            <a:avLst/>
            <a:gdLst/>
            <a:ahLst/>
            <a:cxnLst/>
            <a:rect l="l" t="t" r="r" b="b"/>
            <a:pathLst>
              <a:path w="1183026" h="575743" extrusionOk="0">
                <a:moveTo>
                  <a:pt x="2423" y="261965"/>
                </a:moveTo>
                <a:cubicBezTo>
                  <a:pt x="-3106" y="295430"/>
                  <a:pt x="2736" y="276999"/>
                  <a:pt x="1457" y="315354"/>
                </a:cubicBezTo>
                <a:lnTo>
                  <a:pt x="1183026" y="575743"/>
                </a:lnTo>
                <a:lnTo>
                  <a:pt x="1180581" y="0"/>
                </a:lnTo>
                <a:lnTo>
                  <a:pt x="2423" y="261965"/>
                </a:lnTo>
                <a:close/>
              </a:path>
            </a:pathLst>
          </a:cu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endParaRPr sz="270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0"/>
          <p:cNvSpPr txBox="1"/>
          <p:nvPr/>
        </p:nvSpPr>
        <p:spPr>
          <a:xfrm>
            <a:off x="7363936" y="3495160"/>
            <a:ext cx="402124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 and Visualization Tool (Tableau)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2"/>
          <p:cNvSpPr txBox="1">
            <a:spLocks noGrp="1"/>
          </p:cNvSpPr>
          <p:nvPr>
            <p:ph type="title"/>
          </p:nvPr>
        </p:nvSpPr>
        <p:spPr>
          <a:xfrm>
            <a:off x="838200" y="60325"/>
            <a:ext cx="865230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askervville"/>
              <a:buNone/>
            </a:pPr>
            <a:endParaRPr dirty="0"/>
          </a:p>
        </p:txBody>
      </p:sp>
      <p:pic>
        <p:nvPicPr>
          <p:cNvPr id="451" name="Google Shape;45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325" y="0"/>
            <a:ext cx="938315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2171" y="9625"/>
            <a:ext cx="92909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331" y="1"/>
            <a:ext cx="943182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2170" y="1"/>
            <a:ext cx="943746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030" y="0"/>
            <a:ext cx="932507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2315" y="2686050"/>
            <a:ext cx="5370165" cy="2243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115</TotalTime>
  <Words>1716</Words>
  <Application>Microsoft Office PowerPoint</Application>
  <PresentationFormat>Widescreen</PresentationFormat>
  <Paragraphs>737</Paragraphs>
  <Slides>30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Baskerville Old Face</vt:lpstr>
      <vt:lpstr>Baskervville</vt:lpstr>
      <vt:lpstr>Calibri</vt:lpstr>
      <vt:lpstr>Calisto MT</vt:lpstr>
      <vt:lpstr>Libre Baskerville</vt:lpstr>
      <vt:lpstr>Noto Sans Symbols</vt:lpstr>
      <vt:lpstr>Trebuchet MS</vt:lpstr>
      <vt:lpstr>Wingdings 3</vt:lpstr>
      <vt:lpstr>Facet</vt:lpstr>
      <vt:lpstr>         Welcomes You  </vt:lpstr>
      <vt:lpstr>Introduction</vt:lpstr>
      <vt:lpstr>Agenda</vt:lpstr>
      <vt:lpstr>GROUND RULES</vt:lpstr>
      <vt:lpstr>Data and its Importance in Today's World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Art of Understanding the Data + Finding the Pattern</vt:lpstr>
      <vt:lpstr>Art of Understanding the Data + Finding the Pattern + Building Predictive Models</vt:lpstr>
      <vt:lpstr>PowerPoint Presentation</vt:lpstr>
      <vt:lpstr>Let us play with a few AI tools that are free to use and can help in our day-to-day life.  ChatGpt Gamma.app Merlin Playground Yoodli</vt:lpstr>
      <vt:lpstr>PowerPoint Presentation</vt:lpstr>
      <vt:lpstr>Role of Data Scientist</vt:lpstr>
      <vt:lpstr>PowerPoint Presentation</vt:lpstr>
      <vt:lpstr>What are the Required Skills to be a Data Scientist?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Prasad Charate</dc:creator>
  <cp:lastModifiedBy>Prasad Charate</cp:lastModifiedBy>
  <cp:revision>1</cp:revision>
  <dcterms:created xsi:type="dcterms:W3CDTF">2025-12-16T04:38:27Z</dcterms:created>
  <dcterms:modified xsi:type="dcterms:W3CDTF">2025-12-16T06:33:44Z</dcterms:modified>
</cp:coreProperties>
</file>