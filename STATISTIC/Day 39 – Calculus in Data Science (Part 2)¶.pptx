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67" r:id="rId2"/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8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68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6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54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9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5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7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6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2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9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0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1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:8888/notebooks/Desktop/My/Work/Greamio/G4%20Adv%20Stats/Day%2039%20%E2%80%93%20Calculus%20in%20Data%20Science%20(Part%202).ipynb?#Day-39-%E2%80%93-Calculus-in-Data-Science-(Part-2)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888/notebooks/Desktop/My/Work/Greamio/G4%20Adv%20Stats/Day%2039%20%E2%80%93%20Calculus%20in%20Data%20Science%20(Part%202).ipynb?#Why-Calculus-in-datascience--Is-Importan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FE28D6-49EE-95E9-AE9A-9FFB769B4A0E}"/>
              </a:ext>
            </a:extLst>
          </p:cNvPr>
          <p:cNvSpPr txBox="1"/>
          <p:nvPr/>
        </p:nvSpPr>
        <p:spPr>
          <a:xfrm>
            <a:off x="511277" y="363794"/>
            <a:ext cx="8475407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US" sz="3600" b="1" i="0" u="sng" dirty="0">
                <a:effectLst/>
                <a:latin typeface="Arial Narrow" panose="020B0606020202030204" pitchFamily="34" charset="0"/>
              </a:rPr>
              <a:t>Day 39 – Calculus in Data Science (Part 2)</a:t>
            </a:r>
            <a:r>
              <a:rPr lang="en-US" sz="3600" b="1" i="0" u="sng" strike="noStrike" dirty="0">
                <a:solidFill>
                  <a:srgbClr val="0D47A1"/>
                </a:solidFill>
                <a:effectLst/>
                <a:latin typeface="Arial Narrow" panose="020B0606020202030204" pitchFamily="34" charset="0"/>
                <a:hlinkClick r:id="rId2"/>
              </a:rPr>
              <a:t>¶</a:t>
            </a:r>
            <a:endParaRPr lang="en-US" sz="3600" b="1" i="0" u="sng" dirty="0">
              <a:effectLst/>
              <a:latin typeface="Arial Narrow" panose="020B0606020202030204" pitchFamily="34" charset="0"/>
            </a:endParaRPr>
          </a:p>
          <a:p>
            <a:pPr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en-US" sz="2000" b="0" i="0" dirty="0">
                <a:effectLst/>
                <a:latin typeface="system-ui"/>
              </a:rPr>
              <a:t>What We Did So Far (Quick Recap)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system-ui"/>
              </a:rPr>
              <a:t>In Day 38, we learned:</a:t>
            </a:r>
          </a:p>
          <a:p>
            <a:pPr algn="l">
              <a:buNone/>
            </a:pPr>
            <a:endParaRPr lang="en-US" sz="2000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Why calculus is needed in Data Science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What derivatives mean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What integrals represent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How calculus helps in optimization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system-ui"/>
            </a:endParaRPr>
          </a:p>
          <a:p>
            <a:pPr algn="l">
              <a:buNone/>
            </a:pPr>
            <a:r>
              <a:rPr lang="en-US" sz="2000" b="0" i="0" dirty="0">
                <a:effectLst/>
                <a:latin typeface="system-ui"/>
              </a:rPr>
              <a:t>Today, we will:</a:t>
            </a:r>
          </a:p>
          <a:p>
            <a:pPr algn="l">
              <a:buNone/>
            </a:pPr>
            <a:endParaRPr lang="en-US" sz="2000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Strengthen intuition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Connect calculus to ML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Work with multiple variables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 Visualize concepts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4B4D5-9147-F21D-0908-5297A706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44652">
            <a:off x="4755097" y="2795550"/>
            <a:ext cx="3858121" cy="18929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72258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8166674" cy="137160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Arial Narrow" panose="020B0606020202030204" pitchFamily="34" charset="0"/>
              </a:rPr>
              <a:t>Why Calculus in datascience Is Important</a:t>
            </a:r>
            <a:r>
              <a:rPr lang="en-US" b="1" u="sng" dirty="0">
                <a:latin typeface="Arial Narrow" panose="020B0606020202030204" pitchFamily="34" charset="0"/>
                <a:hlinkClick r:id="rId2"/>
              </a:rPr>
              <a:t>¶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often ask: "How calculas is used in ML"</a:t>
            </a:r>
          </a:p>
          <a:p>
            <a:r>
              <a:rPr lang="en-US" dirty="0"/>
              <a:t>Today answers:</a:t>
            </a:r>
          </a:p>
          <a:p>
            <a:r>
              <a:rPr lang="en-US" dirty="0"/>
              <a:t>WHERE calculus is used</a:t>
            </a:r>
          </a:p>
          <a:p>
            <a:r>
              <a:rPr lang="en-US" dirty="0"/>
              <a:t>WHY ML needs calculus</a:t>
            </a:r>
          </a:p>
          <a:p>
            <a:r>
              <a:rPr lang="en-US" dirty="0"/>
              <a:t>HOW complexity increases in real models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u="sng" dirty="0">
                <a:latin typeface="Arial Narrow" panose="020B0606020202030204" pitchFamily="34" charset="0"/>
              </a:rPr>
              <a:t>What is a Derivative?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Derivative means:</a:t>
            </a:r>
          </a:p>
          <a:p>
            <a:r>
              <a:t>How fast something is changing.</a:t>
            </a:r>
          </a:p>
          <a:p>
            <a:endParaRPr/>
          </a:p>
          <a:p>
            <a:r>
              <a:t>Examples:</a:t>
            </a:r>
          </a:p>
          <a:p>
            <a:r>
              <a:t>• Speed = Change in distance / time</a:t>
            </a:r>
          </a:p>
          <a:p>
            <a:r>
              <a:t>• Profit change</a:t>
            </a:r>
          </a:p>
          <a:p>
            <a:r>
              <a:t>• Temperature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71" y="391881"/>
            <a:ext cx="8701548" cy="1371600"/>
          </a:xfrm>
        </p:spPr>
        <p:txBody>
          <a:bodyPr>
            <a:normAutofit/>
          </a:bodyPr>
          <a:lstStyle/>
          <a:p>
            <a:pPr algn="ctr"/>
            <a:r>
              <a:rPr sz="3600" b="1" u="sng" dirty="0">
                <a:latin typeface="Arial Narrow" panose="020B0606020202030204" pitchFamily="34" charset="0"/>
              </a:rPr>
              <a:t>Derivative = Slope of Curve</a:t>
            </a:r>
            <a:r>
              <a:rPr lang="en-US" sz="3600" b="1" u="sng" dirty="0">
                <a:latin typeface="Arial Narrow" panose="020B0606020202030204" pitchFamily="34" charset="0"/>
              </a:rPr>
              <a:t> in machine learning</a:t>
            </a:r>
            <a:endParaRPr sz="3600"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710" y="1986330"/>
            <a:ext cx="7084142" cy="2126225"/>
          </a:xfrm>
        </p:spPr>
        <p:txBody>
          <a:bodyPr>
            <a:normAutofit/>
          </a:bodyPr>
          <a:lstStyle/>
          <a:p>
            <a:r>
              <a:rPr b="1" dirty="0"/>
              <a:t>For a curve:</a:t>
            </a:r>
          </a:p>
          <a:p>
            <a:r>
              <a:rPr b="1" dirty="0"/>
              <a:t>Slope keeps changing.</a:t>
            </a:r>
            <a:endParaRPr lang="en-US" b="1" dirty="0"/>
          </a:p>
          <a:p>
            <a:endParaRPr b="1" dirty="0"/>
          </a:p>
          <a:p>
            <a:r>
              <a:rPr b="1" dirty="0"/>
              <a:t>Mathematically:</a:t>
            </a:r>
          </a:p>
          <a:p>
            <a:r>
              <a:rPr b="1" dirty="0"/>
              <a:t>dy/dx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7F026-B693-1374-0C75-8F1A68472DBD}"/>
              </a:ext>
            </a:extLst>
          </p:cNvPr>
          <p:cNvSpPr txBox="1"/>
          <p:nvPr/>
        </p:nvSpPr>
        <p:spPr>
          <a:xfrm>
            <a:off x="368710" y="4168256"/>
            <a:ext cx="77084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Slope of a Curve?</a:t>
            </a:r>
          </a:p>
          <a:p>
            <a:pPr>
              <a:buNone/>
            </a:pPr>
            <a:r>
              <a:rPr lang="en-US" dirty="0"/>
              <a:t>Slope of a curve means: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How steep the curve is at a particular point</a:t>
            </a:r>
            <a:endParaRPr lang="en-US" dirty="0"/>
          </a:p>
          <a:p>
            <a:pPr>
              <a:buNone/>
            </a:pPr>
            <a:r>
              <a:rPr lang="en-US" dirty="0"/>
              <a:t>- For a straight line, slope is constant.</a:t>
            </a:r>
            <a:br>
              <a:rPr lang="en-US" dirty="0"/>
            </a:br>
            <a:r>
              <a:rPr lang="en-US" dirty="0"/>
              <a:t>- For a curve, slope keeps changing at every point.</a:t>
            </a:r>
          </a:p>
          <a:p>
            <a:pPr>
              <a:buNone/>
            </a:pPr>
            <a:r>
              <a:rPr lang="en-US" dirty="0"/>
              <a:t>- So we measure slope </a:t>
            </a:r>
            <a:r>
              <a:rPr lang="en-US" b="1" dirty="0"/>
              <a:t>at one specific point</a:t>
            </a:r>
            <a:r>
              <a:rPr lang="en-US" dirty="0"/>
              <a:t> using a </a:t>
            </a:r>
            <a:r>
              <a:rPr lang="en-US" b="1" dirty="0"/>
              <a:t>tangent line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FDA6D8-867E-5F41-62EE-70D646CEB3EA}"/>
                  </a:ext>
                </a:extLst>
              </p:cNvPr>
              <p:cNvSpPr txBox="1"/>
              <p:nvPr/>
            </p:nvSpPr>
            <p:spPr>
              <a:xfrm>
                <a:off x="4862052" y="1930629"/>
                <a:ext cx="4572000" cy="1449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Slope of curve at a point is called Derivative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/>
                        <m:t>Slope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</m:oMath>
                  </m:oMathPara>
                </a14:m>
                <a:endParaRPr lang="ar-AE" b="1" dirty="0"/>
              </a:p>
              <a:p>
                <a:pPr>
                  <a:buNone/>
                </a:pPr>
                <a:r>
                  <a:rPr lang="en-US" dirty="0"/>
                  <a:t>Which means:</a:t>
                </a:r>
              </a:p>
              <a:p>
                <a:pPr>
                  <a:buNone/>
                </a:pPr>
                <a:r>
                  <a:rPr lang="en-US" dirty="0"/>
                  <a:t>If x changes slightly → how much y changes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FDA6D8-867E-5F41-62EE-70D646CEB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052" y="1930629"/>
                <a:ext cx="4572000" cy="1449243"/>
              </a:xfrm>
              <a:prstGeom prst="rect">
                <a:avLst/>
              </a:prstGeom>
              <a:blipFill>
                <a:blip r:embed="rId2"/>
                <a:stretch>
                  <a:fillRect l="-1200" t="-2532" b="-43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u="sng" dirty="0">
                <a:latin typeface="Arial Narrow" panose="020B0606020202030204" pitchFamily="34" charset="0"/>
              </a:rPr>
              <a:t>Basic Rules Of Derivatives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Power Rule:</a:t>
            </a:r>
          </a:p>
          <a:p>
            <a:r>
              <a:rPr dirty="0"/>
              <a:t>xⁿ → </a:t>
            </a:r>
            <a:r>
              <a:rPr dirty="0" err="1"/>
              <a:t>n·x</a:t>
            </a:r>
            <a:r>
              <a:rPr dirty="0"/>
              <a:t>ⁿ⁻¹</a:t>
            </a:r>
          </a:p>
          <a:p>
            <a:endParaRPr dirty="0"/>
          </a:p>
          <a:p>
            <a:r>
              <a:rPr b="1" dirty="0"/>
              <a:t>Examples:</a:t>
            </a:r>
          </a:p>
          <a:p>
            <a:r>
              <a:rPr dirty="0"/>
              <a:t>x² → 2x</a:t>
            </a:r>
          </a:p>
          <a:p>
            <a:r>
              <a:rPr dirty="0"/>
              <a:t>x³ → 3x²</a:t>
            </a:r>
            <a:endParaRPr lang="en-US" dirty="0"/>
          </a:p>
          <a:p>
            <a:r>
              <a:rPr lang="en-US" dirty="0"/>
              <a:t>5x⁴ → 20x³</a:t>
            </a:r>
            <a:endParaRPr dirty="0"/>
          </a:p>
          <a:p>
            <a:endParaRPr dirty="0"/>
          </a:p>
          <a:p>
            <a:r>
              <a:rPr dirty="0"/>
              <a:t>Constant →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42506"/>
            <a:ext cx="7680960" cy="1371600"/>
          </a:xfrm>
        </p:spPr>
        <p:txBody>
          <a:bodyPr>
            <a:normAutofit/>
          </a:bodyPr>
          <a:lstStyle/>
          <a:p>
            <a:pPr algn="ctr"/>
            <a:r>
              <a:rPr sz="3600" b="1" u="sng" dirty="0">
                <a:latin typeface="Arial Narrow" panose="020B0606020202030204" pitchFamily="34" charset="0"/>
              </a:rPr>
              <a:t>Simple Example</a:t>
            </a:r>
            <a:r>
              <a:rPr lang="en-US" sz="3600" b="1" u="sng" dirty="0">
                <a:latin typeface="Arial Narrow" panose="020B0606020202030204" pitchFamily="34" charset="0"/>
              </a:rPr>
              <a:t> with some slops</a:t>
            </a:r>
            <a:endParaRPr sz="3600"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01239"/>
            <a:ext cx="7680960" cy="3931920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Suppose </a:t>
            </a:r>
            <a:r>
              <a:rPr sz="2400" b="1" dirty="0"/>
              <a:t>If</a:t>
            </a:r>
            <a:r>
              <a:rPr sz="2400" dirty="0"/>
              <a:t>:</a:t>
            </a:r>
          </a:p>
          <a:p>
            <a:r>
              <a:rPr sz="2400" b="1" dirty="0"/>
              <a:t>y = x²</a:t>
            </a:r>
            <a:r>
              <a:rPr lang="en-US" sz="2400" b="1" dirty="0"/>
              <a:t> </a:t>
            </a:r>
          </a:p>
          <a:p>
            <a:r>
              <a:rPr lang="en-US" sz="2400" dirty="0"/>
              <a:t>Now the question is if X changes how fast does y changes</a:t>
            </a:r>
            <a:endParaRPr sz="2400" dirty="0"/>
          </a:p>
          <a:p>
            <a:endParaRPr sz="2400" dirty="0"/>
          </a:p>
          <a:p>
            <a:r>
              <a:rPr sz="2400" b="1" dirty="0"/>
              <a:t>Derivative</a:t>
            </a:r>
            <a:r>
              <a:rPr sz="2400" dirty="0"/>
              <a:t>:</a:t>
            </a:r>
          </a:p>
          <a:p>
            <a:r>
              <a:rPr sz="2400" b="1" dirty="0"/>
              <a:t>dy/dx = 2x</a:t>
            </a:r>
          </a:p>
          <a:p>
            <a:endParaRPr sz="2400" dirty="0"/>
          </a:p>
          <a:p>
            <a:r>
              <a:rPr sz="2400" dirty="0"/>
              <a:t>If x = 3 → slope =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14F4F-E000-7C56-6789-9B5FBE0ED0F1}"/>
              </a:ext>
            </a:extLst>
          </p:cNvPr>
          <p:cNvSpPr txBox="1"/>
          <p:nvPr/>
        </p:nvSpPr>
        <p:spPr>
          <a:xfrm>
            <a:off x="888837" y="5695595"/>
            <a:ext cx="6032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Meaning:</a:t>
            </a:r>
          </a:p>
          <a:p>
            <a:pPr>
              <a:buNone/>
            </a:pPr>
            <a:r>
              <a:rPr lang="en-US" dirty="0"/>
              <a:t>At x = 3 → curve is increasing with steepness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u="sng" dirty="0">
                <a:latin typeface="Arial Narrow" panose="020B0606020202030204" pitchFamily="34" charset="0"/>
              </a:rPr>
              <a:t>Point to remember Why this is Important in Data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Used for:</a:t>
            </a:r>
          </a:p>
          <a:p>
            <a:r>
              <a:rPr dirty="0"/>
              <a:t>• Machine Learning</a:t>
            </a:r>
          </a:p>
          <a:p>
            <a:r>
              <a:rPr dirty="0"/>
              <a:t>• </a:t>
            </a:r>
            <a:r>
              <a:rPr lang="en-US" dirty="0"/>
              <a:t>Model </a:t>
            </a:r>
            <a:r>
              <a:rPr dirty="0"/>
              <a:t>Optimization</a:t>
            </a:r>
          </a:p>
          <a:p>
            <a:r>
              <a:rPr dirty="0"/>
              <a:t>• Neural Networks</a:t>
            </a:r>
          </a:p>
          <a:p>
            <a:endParaRPr dirty="0"/>
          </a:p>
          <a:p>
            <a:r>
              <a:rPr b="1" dirty="0"/>
              <a:t>Goal: </a:t>
            </a:r>
            <a:r>
              <a:rPr dirty="0"/>
              <a:t>Minimize Error</a:t>
            </a:r>
            <a:endParaRPr lang="en-US" dirty="0"/>
          </a:p>
          <a:p>
            <a:endParaRPr lang="en-US" dirty="0"/>
          </a:p>
          <a:p>
            <a:r>
              <a:rPr lang="en-US" sz="2400" dirty="0"/>
              <a:t>Example:</a:t>
            </a:r>
          </a:p>
          <a:p>
            <a:r>
              <a:rPr lang="en-US" sz="2400" dirty="0"/>
              <a:t>In ML :</a:t>
            </a:r>
          </a:p>
          <a:p>
            <a:r>
              <a:rPr lang="en-US" sz="2400" b="1" dirty="0"/>
              <a:t>Error = (Actual − Predicted)²</a:t>
            </a:r>
          </a:p>
          <a:p>
            <a:r>
              <a:rPr lang="en-US" sz="2400" dirty="0"/>
              <a:t>We take derivative of data points to reduce error.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u="sng" dirty="0">
                <a:latin typeface="Arial Narrow" panose="020B0606020202030204" pitchFamily="34" charset="0"/>
              </a:rPr>
              <a:t>What is Partial Derivative?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003322"/>
            <a:ext cx="8229600" cy="3601065"/>
          </a:xfrm>
        </p:spPr>
        <p:txBody>
          <a:bodyPr>
            <a:normAutofit/>
          </a:bodyPr>
          <a:lstStyle/>
          <a:p>
            <a:r>
              <a:rPr lang="en-US" dirty="0"/>
              <a:t>Normal derivative = one variable</a:t>
            </a:r>
            <a:br>
              <a:rPr lang="en-US" dirty="0"/>
            </a:br>
            <a:r>
              <a:rPr lang="en-US" dirty="0"/>
              <a:t>Partial derivative = multiple variables</a:t>
            </a:r>
          </a:p>
          <a:p>
            <a:endParaRPr lang="en-US" dirty="0"/>
          </a:p>
          <a:p>
            <a:r>
              <a:rPr sz="2500" dirty="0"/>
              <a:t>Used when function has multiple variables</a:t>
            </a:r>
            <a:r>
              <a:rPr sz="2600" dirty="0"/>
              <a:t>.</a:t>
            </a:r>
          </a:p>
          <a:p>
            <a:endParaRPr sz="2600" dirty="0"/>
          </a:p>
          <a:p>
            <a:r>
              <a:rPr sz="2600" dirty="0"/>
              <a:t>Example:</a:t>
            </a:r>
          </a:p>
          <a:p>
            <a:r>
              <a:rPr sz="2600" dirty="0"/>
              <a:t>z = f(x, y)</a:t>
            </a:r>
          </a:p>
          <a:p>
            <a:endParaRPr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E463AB-058B-BF27-07BA-8C78DD3C5C42}"/>
                  </a:ext>
                </a:extLst>
              </p:cNvPr>
              <p:cNvSpPr txBox="1"/>
              <p:nvPr/>
            </p:nvSpPr>
            <p:spPr>
              <a:xfrm>
                <a:off x="3990176" y="3767941"/>
                <a:ext cx="4719484" cy="2671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So We measure change with respect to: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x only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y only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>
                  <a:buNone/>
                </a:pPr>
                <a:r>
                  <a:rPr lang="en-US" sz="1600" b="1" dirty="0"/>
                  <a:t>Symbols: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b="1" i="1" smtClean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ar-AE" sz="16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num>
                        <m:den>
                          <m:r>
                            <a:rPr lang="ar-AE" sz="1600" b="1" i="0" smtClean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ar-AE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US" sz="1600" b="1" dirty="0"/>
              </a:p>
              <a:p>
                <a:pPr>
                  <a:buNone/>
                </a:pPr>
                <a:endParaRPr lang="ar-AE" sz="1600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b="1" i="1" smtClean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ar-AE" sz="16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num>
                        <m:den>
                          <m:r>
                            <a:rPr lang="ar-AE" sz="1600" b="1" i="0" smtClean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ar-AE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</m:oMath>
                  </m:oMathPara>
                </a14:m>
                <a:endParaRPr lang="ar-AE" sz="16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E463AB-058B-BF27-07BA-8C78DD3C5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176" y="3767941"/>
                <a:ext cx="4719484" cy="2671372"/>
              </a:xfrm>
              <a:prstGeom prst="rect">
                <a:avLst/>
              </a:prstGeom>
              <a:blipFill>
                <a:blip r:embed="rId2"/>
                <a:stretch>
                  <a:fillRect l="-1163" t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u="sng" dirty="0">
                <a:latin typeface="Arial Narrow" panose="020B0606020202030204" pitchFamily="34" charset="0"/>
              </a:rPr>
              <a:t>Partial Derivative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042379"/>
            <a:ext cx="7543801" cy="4023360"/>
          </a:xfrm>
        </p:spPr>
        <p:txBody>
          <a:bodyPr>
            <a:normAutofit/>
          </a:bodyPr>
          <a:lstStyle/>
          <a:p>
            <a:r>
              <a:rPr sz="2800" b="1" dirty="0"/>
              <a:t>z = x² + y³</a:t>
            </a:r>
            <a:r>
              <a:rPr lang="en-US" sz="2800" b="1" dirty="0"/>
              <a:t> </a:t>
            </a:r>
            <a:r>
              <a:rPr lang="en-US" sz="2800" dirty="0"/>
              <a:t>(2 variable input features at a time )</a:t>
            </a:r>
          </a:p>
          <a:p>
            <a:r>
              <a:rPr lang="en-US" sz="2800" dirty="0"/>
              <a:t>So keeping one term constant we find the change in other</a:t>
            </a:r>
            <a:endParaRPr sz="2800" dirty="0"/>
          </a:p>
          <a:p>
            <a:endParaRPr sz="2800" dirty="0"/>
          </a:p>
          <a:p>
            <a:r>
              <a:rPr sz="2800" dirty="0"/>
              <a:t>∂z/∂x = 2x  (treat y constant)</a:t>
            </a:r>
          </a:p>
          <a:p>
            <a:r>
              <a:rPr sz="2800" dirty="0"/>
              <a:t>∂z/∂y = 3y² (treat x constant)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6A3B44-7DAB-4BC8-67F5-11C7BA758BDF}"/>
              </a:ext>
            </a:extLst>
          </p:cNvPr>
          <p:cNvSpPr txBox="1"/>
          <p:nvPr/>
        </p:nvSpPr>
        <p:spPr>
          <a:xfrm>
            <a:off x="2698955" y="12996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Visual Understanding (3D Surface)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D5F08-6D4E-011A-5C37-5309CE9F6A5F}"/>
              </a:ext>
            </a:extLst>
          </p:cNvPr>
          <p:cNvSpPr txBox="1"/>
          <p:nvPr/>
        </p:nvSpPr>
        <p:spPr>
          <a:xfrm>
            <a:off x="309716" y="12606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Derivative = slope in 2D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6EEFB6-4AA3-19B2-A580-C5BC331BC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48" y="2146705"/>
            <a:ext cx="3181794" cy="37247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19EE63-2ECA-3FDF-441B-D29741D51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00804"/>
            <a:ext cx="3661391" cy="4040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9E6D54-264C-2F35-19BB-E6DD18FA0CB9}"/>
              </a:ext>
            </a:extLst>
          </p:cNvPr>
          <p:cNvSpPr txBox="1"/>
          <p:nvPr/>
        </p:nvSpPr>
        <p:spPr>
          <a:xfrm>
            <a:off x="4414684" y="12606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Partial derivative = slope in 3D direction</a:t>
            </a:r>
          </a:p>
        </p:txBody>
      </p:sp>
    </p:spTree>
    <p:extLst>
      <p:ext uri="{BB962C8B-B14F-4D97-AF65-F5344CB8AC3E}">
        <p14:creationId xmlns:p14="http://schemas.microsoft.com/office/powerpoint/2010/main" val="279639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216310"/>
            <a:ext cx="7543800" cy="1450757"/>
          </a:xfrm>
        </p:spPr>
        <p:txBody>
          <a:bodyPr>
            <a:normAutofit fontScale="90000"/>
          </a:bodyPr>
          <a:lstStyle/>
          <a:p>
            <a:pPr algn="ctr"/>
            <a:r>
              <a:rPr b="1" dirty="0">
                <a:latin typeface="Arial Narrow" panose="020B0606020202030204" pitchFamily="34" charset="0"/>
              </a:rPr>
              <a:t>Machine Learning Connection </a:t>
            </a:r>
            <a:r>
              <a:rPr lang="en-US" b="1" dirty="0">
                <a:latin typeface="Arial Narrow" panose="020B0606020202030204" pitchFamily="34" charset="0"/>
              </a:rPr>
              <a:t>–</a:t>
            </a:r>
            <a:r>
              <a:rPr b="1" dirty="0">
                <a:latin typeface="Arial Narrow" panose="020B0606020202030204" pitchFamily="34" charset="0"/>
              </a:rPr>
              <a:t> Derivatives often connected with Loss functions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82" y="1667067"/>
            <a:ext cx="7680960" cy="3931920"/>
          </a:xfrm>
        </p:spPr>
        <p:txBody>
          <a:bodyPr>
            <a:noAutofit/>
          </a:bodyPr>
          <a:lstStyle/>
          <a:p>
            <a:r>
              <a:rPr sz="1600" b="1" dirty="0"/>
              <a:t>Loss Function:</a:t>
            </a:r>
            <a:r>
              <a:rPr lang="en-US" sz="1600" b="1" dirty="0"/>
              <a:t> </a:t>
            </a:r>
            <a:r>
              <a:rPr lang="en-US" sz="1600" dirty="0"/>
              <a:t>How wrong your model’s prediction is compared to the actual value . Indirectly it measures how incorrect the model prediction is .</a:t>
            </a:r>
          </a:p>
          <a:p>
            <a:endParaRPr sz="1600" dirty="0"/>
          </a:p>
          <a:p>
            <a:r>
              <a:rPr sz="1600" b="1" dirty="0"/>
              <a:t>Loss = (Actual − Predicted)²</a:t>
            </a:r>
          </a:p>
          <a:p>
            <a:endParaRPr sz="1600" dirty="0"/>
          </a:p>
          <a:p>
            <a:r>
              <a:rPr sz="1600" dirty="0"/>
              <a:t>We take derivatives to update model weights.</a:t>
            </a:r>
          </a:p>
          <a:p>
            <a:endParaRPr sz="1600" dirty="0"/>
          </a:p>
          <a:p>
            <a:r>
              <a:rPr sz="1600" dirty="0"/>
              <a:t>This is how models learn.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Derivative:</a:t>
            </a:r>
          </a:p>
          <a:p>
            <a:r>
              <a:rPr lang="en-US" sz="1600" dirty="0"/>
              <a:t>Rate of change of single variable function</a:t>
            </a:r>
          </a:p>
          <a:p>
            <a:endParaRPr lang="en-US" sz="1600" dirty="0"/>
          </a:p>
          <a:p>
            <a:r>
              <a:rPr lang="en-US" sz="1600" b="1" dirty="0"/>
              <a:t>Partial Derivative:</a:t>
            </a:r>
          </a:p>
          <a:p>
            <a:r>
              <a:rPr lang="en-US" sz="1600" dirty="0"/>
              <a:t>Rate of change of multivariable function w.r.t one variable</a:t>
            </a:r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Questions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5B1C44-D0C0-2889-5731-1C12B6B122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1838" y="2776099"/>
            <a:ext cx="603883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Mixed Homework — Derivatives &amp; Partial Derivatives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derivative: f(x) = 3x²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derivative: y = 5x³ + 2x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derivative: y = 6x⁴ − 3x² + 7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partial derivatives: z = x² + y². Find ∂z/∂x and ∂z/∂y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partial derivatives: z = 3x² + 4y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partial derivatives: z = 5xy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partial derivatives: z = x²y + y³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55</TotalTime>
  <Words>659</Words>
  <Application>Microsoft Office PowerPoint</Application>
  <PresentationFormat>On-screen Show (4:3)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Narrow</vt:lpstr>
      <vt:lpstr>Cambria Math</vt:lpstr>
      <vt:lpstr>Century Gothic</vt:lpstr>
      <vt:lpstr>Garamond</vt:lpstr>
      <vt:lpstr>system-ui</vt:lpstr>
      <vt:lpstr>Savon</vt:lpstr>
      <vt:lpstr>PowerPoint Presentation</vt:lpstr>
      <vt:lpstr>Why Calculus in datascience Is Important¶ </vt:lpstr>
      <vt:lpstr>What is a Derivative?</vt:lpstr>
      <vt:lpstr>Derivative = Slope of Curve in machine learning</vt:lpstr>
      <vt:lpstr>Basic Rules Of Derivatives</vt:lpstr>
      <vt:lpstr>Simple Example with some slops</vt:lpstr>
      <vt:lpstr>Point to remember Why this is Important in Data Science?</vt:lpstr>
      <vt:lpstr>What is Partial Derivative?</vt:lpstr>
      <vt:lpstr>Partial Derivative Example</vt:lpstr>
      <vt:lpstr>PowerPoint Presentation</vt:lpstr>
      <vt:lpstr>Machine Learning Connection – Derivatives often connected with Loss functions </vt:lpstr>
      <vt:lpstr>Practice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Prasad Charate</cp:lastModifiedBy>
  <cp:revision>2</cp:revision>
  <dcterms:created xsi:type="dcterms:W3CDTF">2013-01-27T09:14:16Z</dcterms:created>
  <dcterms:modified xsi:type="dcterms:W3CDTF">2026-02-17T09:42:37Z</dcterms:modified>
  <cp:category/>
</cp:coreProperties>
</file>