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693FEF7-AB75-4A1A-B3DB-9D49BD2105A8}">
          <p14:sldIdLst>
            <p14:sldId id="256"/>
            <p14:sldId id="257"/>
            <p14:sldId id="258"/>
            <p14:sldId id="259"/>
            <p14:sldId id="261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017BC-1117-927E-C78C-A812079092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9335E7-F46C-ED3B-0878-4EA7BFA83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4956FE-F014-B0A9-84FB-0C1B7ABDF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29066-E640-4A2D-89E7-5539350062E0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FDB944-D118-2553-5A44-87E4C09CF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693BBF-8499-1010-3390-B8F599CA9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5FFDD-0A4B-42FC-9263-72F0BA261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673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9ADC9-19ED-5847-8614-EFF0BA6E6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357BC-0700-6708-089B-369876CB71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E9B0C-E905-B7C5-5EC5-0EEDC8CB4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29066-E640-4A2D-89E7-5539350062E0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9C3C90-BC66-EFAA-6CF7-4F00FE8C3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88109-470A-2866-DBC8-2ADA5E213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5FFDD-0A4B-42FC-9263-72F0BA261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661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3D1C2-1BEF-EC34-0554-AB65162EB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4FDD01-D5A6-3432-BF03-A0470DDFF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68F10E-D346-CEBC-BF2F-5AAE61183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29066-E640-4A2D-89E7-5539350062E0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5D93A9-A798-68A2-A06E-178EC88F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ACEE21-B463-5187-3874-18EB67E74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5FFDD-0A4B-42FC-9263-72F0BA261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667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8FC3F-B0A5-59E8-6944-71C7E5B9E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7CBA2-8A7F-5DFC-7317-1D0F97871B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E2C016-2F59-3957-6103-BA671ADD5D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C311A6-9E85-C18E-F162-C3F60615E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29066-E640-4A2D-89E7-5539350062E0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A4FE5C-4B2A-416F-5D91-B0D356272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DEC34A-32DB-7B08-0D1F-7B361AD97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5FFDD-0A4B-42FC-9263-72F0BA261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446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27184-ACB5-C8A7-E6B4-EAA920351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570E2C-66E6-4A11-A547-BF6867E2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F25D6E-8827-2997-A5DB-DF68D96145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45A662-D745-1678-341E-A9B1047B64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356702-4AFC-27E6-B99D-F1CF7F63C3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279661-8E70-21EB-2962-CB20EED39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29066-E640-4A2D-89E7-5539350062E0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0AE127-361C-F387-919F-C7B221583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C268E0-3645-5ACE-F6EB-6E9BBEA2B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5FFDD-0A4B-42FC-9263-72F0BA261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121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0DD79-F371-5811-79F1-B200E1D59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F4A6C6-E4E1-5B34-BF65-F0902649F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29066-E640-4A2D-89E7-5539350062E0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393532-B0EF-9FDE-70BE-2194081DE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D9855B-282F-2E2B-AA99-C79596C1F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5FFDD-0A4B-42FC-9263-72F0BA261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04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D7A87A-A81F-6C40-B0B7-55FC14078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29066-E640-4A2D-89E7-5539350062E0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D0DC10-B05F-D1B4-D0A8-61C167C97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5109B4-01B3-1ACC-7199-471D47050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5FFDD-0A4B-42FC-9263-72F0BA261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907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D1770-570D-1FC5-841E-20AF07D0A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F228E-C495-32AE-0AB5-BD63D25BB3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D4BAA5-34E3-D4D3-19F5-2E41AB576E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0DF872-ABA0-0510-90E2-659BFA143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29066-E640-4A2D-89E7-5539350062E0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E72B78-95A5-164E-1533-800EBB5F5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4A5097-FA8B-A6A0-50E8-DF3338EAF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5FFDD-0A4B-42FC-9263-72F0BA261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146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B9544-BAB3-84C7-B2CB-8C3E5212D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04C904-CDB4-A0D2-3F39-AEC685E8E9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9A64D-5447-61A5-E684-3D9DF8EDEB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6B7EB5-84FF-F149-9A0A-9185868AA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29066-E640-4A2D-89E7-5539350062E0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7CDBD0-A0DF-93CE-1AFD-657B2FE51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37F9AB-A98D-1A9E-9F0B-B1FEA4199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5FFDD-0A4B-42FC-9263-72F0BA261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800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A1FB5-68ED-FC9E-773D-B7FAB42C3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568EC-DEAB-FD08-D1EB-1A4DF91EFE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F77C46-BBFF-BC40-D3E2-364037BB4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29066-E640-4A2D-89E7-5539350062E0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6BEF1-007B-793C-0475-8B89FD248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87791-97CE-BBB1-DA37-76B869B2B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5FFDD-0A4B-42FC-9263-72F0BA261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250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1E4084-8555-20CD-A2AE-2CC7D3AFE8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AB1ABD-7890-AB7D-7434-88F3F5E605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1F9A51-93FA-9738-6849-39D3939A7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29066-E640-4A2D-89E7-5539350062E0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53613-8FC4-F91C-B3EC-998EE8064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B0A4F-E8AE-B851-83D7-FF4D281FE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5FFDD-0A4B-42FC-9263-72F0BA261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690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FA0FDD-3370-C75E-3B0B-3449F9381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E52B89-7F3E-6BC7-E1F1-0D06372DDF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94C52-496F-ED2B-C3B8-5FF39521E3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29066-E640-4A2D-89E7-5539350062E0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C7E1C-4F3A-5B34-FC18-747EE31E63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1117DF-F19A-8475-8038-E7273F2CDB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55FFDD-0A4B-42FC-9263-72F0BA261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491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://localhost:8888/notebooks/Desktop/My/Work/Greamio/G4%20Adv%20Stats/Day%2041%20%E2%80%93%20Linear%20Algebra%20for%20Machine%20Learning%20(Vectors).ipynb?#Dot-Product-of-Two-Vectors" TargetMode="Externa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888/notebooks/Desktop/My/Work/Greamio/G4%20Adv%20Stats/Day%2041%20%E2%80%93%20Linear%20Algebra%20for%20Machine%20Learning%20(Vectors).ipynb?#Why-Cross-Product-is-Less-Important-in-ML" TargetMode="Externa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888/notebooks/Desktop/My/Work/Greamio/G4%20Adv%20Stats/Day%2041%20%E2%80%93%20Linear%20Algebra%20for%20Machine%20Learning%20(Vectors).ipynb?#L1-Norm-(Manhattan-Distance)" TargetMode="External"/><Relationship Id="rId2" Type="http://schemas.openxmlformats.org/officeDocument/2006/relationships/hyperlink" Target="http://localhost:8888/notebooks/Desktop/My/Work/Greamio/G4%20Adv%20Stats/Day%2041%20%E2%80%93%20Linear%20Algebra%20for%20Machine%20Learning%20(Vectors).ipynb?#Vector-Norms-(Magnitude)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E4D2A-1597-2BB0-CDFD-288001C7DE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7148"/>
            <a:ext cx="9144000" cy="2487561"/>
          </a:xfrm>
        </p:spPr>
        <p:txBody>
          <a:bodyPr>
            <a:normAutofit fontScale="90000"/>
          </a:bodyPr>
          <a:lstStyle/>
          <a:p>
            <a:r>
              <a:rPr lang="en-US" sz="4000" b="1" u="sng" dirty="0">
                <a:latin typeface="Arial Narrow" panose="020B0606020202030204" pitchFamily="34" charset="0"/>
              </a:rPr>
              <a:t>Day 41 – Linear Algebra for Machine Learning (Vectors)</a:t>
            </a:r>
            <a:br>
              <a:rPr lang="en-US" sz="4000" b="1" u="sng" dirty="0">
                <a:latin typeface="Arial Narrow" panose="020B0606020202030204" pitchFamily="34" charset="0"/>
              </a:rPr>
            </a:br>
            <a:br>
              <a:rPr lang="en-US" sz="4000" b="1" u="sng" dirty="0">
                <a:latin typeface="Arial Narrow" panose="020B0606020202030204" pitchFamily="34" charset="0"/>
              </a:rPr>
            </a:br>
            <a:r>
              <a:rPr lang="en-US" sz="3100" b="1" dirty="0">
                <a:latin typeface="Arial Narrow" panose="020B0606020202030204" pitchFamily="34" charset="0"/>
              </a:rPr>
              <a:t>Why Linear Algebra is Important in Machine Learning?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17494A-E66E-D718-A6F1-D87AFBFDAA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20413"/>
            <a:ext cx="9144000" cy="4090219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b="1" dirty="0"/>
              <a:t>Machine Learning models </a:t>
            </a:r>
            <a:r>
              <a:rPr lang="en-US" dirty="0"/>
              <a:t>do not work on </a:t>
            </a:r>
            <a:r>
              <a:rPr lang="en-US" b="1" dirty="0"/>
              <a:t>single values</a:t>
            </a:r>
            <a:r>
              <a:rPr lang="en-US" dirty="0"/>
              <a:t>. They work on: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/>
              <a:t>Lists</a:t>
            </a:r>
            <a:r>
              <a:rPr lang="en-US" dirty="0"/>
              <a:t> of numbers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/>
              <a:t>Groups</a:t>
            </a:r>
            <a:r>
              <a:rPr lang="en-US" dirty="0"/>
              <a:t> of features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/>
              <a:t>High</a:t>
            </a:r>
            <a:r>
              <a:rPr lang="en-US" dirty="0"/>
              <a:t>-dimensional data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algn="l"/>
            <a:r>
              <a:rPr lang="en-US" dirty="0"/>
              <a:t>These lists of numbers are called </a:t>
            </a:r>
            <a:r>
              <a:rPr lang="en-US" b="1" dirty="0"/>
              <a:t>Vectors</a:t>
            </a:r>
            <a:r>
              <a:rPr lang="en-US" dirty="0"/>
              <a:t>.</a:t>
            </a:r>
          </a:p>
          <a:p>
            <a:pPr algn="l"/>
            <a:r>
              <a:rPr lang="en-US" b="1" dirty="0"/>
              <a:t>Without vectors: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No ML models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No Deep Learning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No Neural Networks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0FC5AF-5B74-C094-7119-2FCD82872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4929" y="3096908"/>
            <a:ext cx="4850505" cy="221276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30869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5E755-4F51-12D2-4C71-9A528FB22C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5678" y="384944"/>
            <a:ext cx="9144000" cy="322979"/>
          </a:xfrm>
        </p:spPr>
        <p:txBody>
          <a:bodyPr>
            <a:normAutofit fontScale="90000"/>
          </a:bodyPr>
          <a:lstStyle/>
          <a:p>
            <a:r>
              <a:rPr lang="en-US" sz="3600" b="1" u="sng" dirty="0">
                <a:latin typeface="Arial Narrow" panose="020B0606020202030204" pitchFamily="34" charset="0"/>
              </a:rPr>
              <a:t>Why We Are Learning This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7967DE-3DD5-C6BD-5B80-8F5463AD85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7755" y="825910"/>
            <a:ext cx="9144000" cy="5732206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Till now:</a:t>
            </a:r>
          </a:p>
          <a:p>
            <a:pPr algn="l"/>
            <a:r>
              <a:rPr lang="en-US" sz="2200" dirty="0"/>
              <a:t>• Python → writing logic</a:t>
            </a:r>
            <a:br>
              <a:rPr lang="en-US" sz="2200" dirty="0"/>
            </a:br>
            <a:r>
              <a:rPr lang="en-US" sz="2200" dirty="0"/>
              <a:t>• SQL → handling data</a:t>
            </a:r>
            <a:br>
              <a:rPr lang="en-US" sz="2200" dirty="0"/>
            </a:br>
            <a:r>
              <a:rPr lang="en-US" sz="2200" dirty="0"/>
              <a:t>• Statistics → understanding patterns</a:t>
            </a:r>
          </a:p>
          <a:p>
            <a:pPr algn="l"/>
            <a:r>
              <a:rPr lang="en-US" b="1" dirty="0"/>
              <a:t>Now:</a:t>
            </a:r>
          </a:p>
          <a:p>
            <a:pPr algn="l"/>
            <a:r>
              <a:rPr lang="en-US" sz="2200" dirty="0"/>
              <a:t>👉 How machines represent information mathematically</a:t>
            </a:r>
          </a:p>
          <a:p>
            <a:pPr algn="l"/>
            <a:r>
              <a:rPr lang="en-US" b="1" dirty="0"/>
              <a:t>Important fact:</a:t>
            </a:r>
          </a:p>
          <a:p>
            <a:pPr algn="l"/>
            <a:r>
              <a:rPr lang="en-US" b="1" dirty="0"/>
              <a:t>Computers do not understand:</a:t>
            </a:r>
          </a:p>
          <a:p>
            <a:pPr algn="l"/>
            <a:r>
              <a:rPr lang="en-US" dirty="0"/>
              <a:t>• Images</a:t>
            </a:r>
            <a:br>
              <a:rPr lang="en-US" dirty="0"/>
            </a:br>
            <a:r>
              <a:rPr lang="en-US" dirty="0"/>
              <a:t>• Text</a:t>
            </a:r>
            <a:br>
              <a:rPr lang="en-US" dirty="0"/>
            </a:br>
            <a:r>
              <a:rPr lang="en-US" dirty="0"/>
              <a:t>• Humans</a:t>
            </a:r>
          </a:p>
          <a:p>
            <a:pPr algn="l"/>
            <a:r>
              <a:rPr lang="en-US" b="1" dirty="0"/>
              <a:t>They understand only:</a:t>
            </a:r>
          </a:p>
          <a:p>
            <a:pPr algn="l"/>
            <a:r>
              <a:rPr lang="en-US" dirty="0"/>
              <a:t>👉 </a:t>
            </a:r>
            <a:r>
              <a:rPr lang="en-US" sz="2200" dirty="0"/>
              <a:t>Numbers arranged in vectors</a:t>
            </a:r>
          </a:p>
          <a:p>
            <a:pPr algn="l"/>
            <a:r>
              <a:rPr lang="en-US" sz="2200" dirty="0"/>
              <a:t>Machine Learning = Numbers + Mathematics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0983FE-C1C6-75F8-3893-3C90C83F0B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3483" y="3319386"/>
            <a:ext cx="5314859" cy="271270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862792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F4CC3-11EB-A599-A4F6-1441A07464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8413" y="0"/>
            <a:ext cx="9075174" cy="884904"/>
          </a:xfrm>
        </p:spPr>
        <p:txBody>
          <a:bodyPr>
            <a:normAutofit/>
          </a:bodyPr>
          <a:lstStyle/>
          <a:p>
            <a:r>
              <a:rPr lang="en-US" sz="3600" b="1" u="sng" dirty="0">
                <a:latin typeface="Arial Narrow" panose="020B0606020202030204" pitchFamily="34" charset="0"/>
              </a:rPr>
              <a:t>What is a Vector (From Real World to Math)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1CA7D3-F793-D677-5D36-AC6A9E90C6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987" y="1130710"/>
            <a:ext cx="9144000" cy="5506064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Real world examples:</a:t>
            </a:r>
          </a:p>
          <a:p>
            <a:r>
              <a:rPr lang="en-US" dirty="0"/>
              <a:t>          • Student marks → (Math, Science, English)</a:t>
            </a:r>
            <a:br>
              <a:rPr lang="en-US" dirty="0"/>
            </a:br>
            <a:r>
              <a:rPr lang="en-US" dirty="0"/>
              <a:t>  • Person body → (Height, Weight, Age)</a:t>
            </a:r>
            <a:br>
              <a:rPr lang="en-US" dirty="0"/>
            </a:br>
            <a:r>
              <a:rPr lang="en-US" dirty="0"/>
              <a:t>• Car movement → (Speed, Direction)</a:t>
            </a:r>
          </a:p>
          <a:p>
            <a:endParaRPr lang="en-US" dirty="0"/>
          </a:p>
          <a:p>
            <a:pPr algn="l"/>
            <a:r>
              <a:rPr lang="en-US" b="1" dirty="0"/>
              <a:t>Mathematical form:</a:t>
            </a:r>
          </a:p>
          <a:p>
            <a:pPr algn="l"/>
            <a:r>
              <a:rPr lang="en-US" dirty="0"/>
              <a:t>V = (x, y)</a:t>
            </a:r>
          </a:p>
          <a:p>
            <a:pPr algn="l"/>
            <a:endParaRPr lang="en-US" dirty="0"/>
          </a:p>
          <a:p>
            <a:pPr algn="l"/>
            <a:r>
              <a:rPr lang="en-US" b="1" dirty="0"/>
              <a:t>Meaning:</a:t>
            </a:r>
          </a:p>
          <a:p>
            <a:pPr algn="l"/>
            <a:r>
              <a:rPr lang="en-US" dirty="0"/>
              <a:t>Move </a:t>
            </a:r>
            <a:r>
              <a:rPr lang="en-US" b="1" dirty="0"/>
              <a:t>x </a:t>
            </a:r>
            <a:r>
              <a:rPr lang="en-US" dirty="0"/>
              <a:t>units in </a:t>
            </a:r>
            <a:r>
              <a:rPr lang="en-US" b="1" dirty="0"/>
              <a:t>horizontal direction</a:t>
            </a:r>
            <a:br>
              <a:rPr lang="en-US" dirty="0"/>
            </a:br>
            <a:r>
              <a:rPr lang="en-US" dirty="0"/>
              <a:t>Move </a:t>
            </a:r>
            <a:r>
              <a:rPr lang="en-US" b="1" dirty="0"/>
              <a:t>y</a:t>
            </a:r>
            <a:r>
              <a:rPr lang="en-US" dirty="0"/>
              <a:t> units in </a:t>
            </a:r>
            <a:r>
              <a:rPr lang="en-US" b="1" dirty="0"/>
              <a:t>vertical direction</a:t>
            </a:r>
          </a:p>
          <a:p>
            <a:endParaRPr lang="en-US" dirty="0"/>
          </a:p>
          <a:p>
            <a:pPr algn="l"/>
            <a:r>
              <a:rPr lang="en-US" dirty="0"/>
              <a:t>So </a:t>
            </a:r>
            <a:r>
              <a:rPr lang="en-US" b="1" dirty="0"/>
              <a:t>vector</a:t>
            </a:r>
            <a:r>
              <a:rPr lang="en-US" dirty="0"/>
              <a:t> = quantity with multiple values.</a:t>
            </a:r>
          </a:p>
          <a:p>
            <a:pPr algn="l"/>
            <a:r>
              <a:rPr lang="en-US" dirty="0"/>
              <a:t>“We can say Vector is simply structured information.”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6FC626-1B51-20F5-FAAD-F56385F90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2826" y="3262307"/>
            <a:ext cx="4735114" cy="170990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642804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6D3E8-7080-DE99-C174-211C0D2137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747252"/>
          </a:xfrm>
        </p:spPr>
        <p:txBody>
          <a:bodyPr>
            <a:normAutofit/>
          </a:bodyPr>
          <a:lstStyle/>
          <a:p>
            <a:r>
              <a:rPr lang="en-US" sz="3600" b="1" u="sng" dirty="0">
                <a:latin typeface="Arial Narrow" panose="020B0606020202030204" pitchFamily="34" charset="0"/>
              </a:rPr>
              <a:t>Vector Representation on Graph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E9DDF5-5430-1A5A-F959-4060276AAE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935" y="1170038"/>
            <a:ext cx="9144000" cy="5073445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Vector starts from origin and points to location.</a:t>
            </a:r>
          </a:p>
          <a:p>
            <a:pPr algn="l"/>
            <a:endParaRPr lang="en-US" dirty="0"/>
          </a:p>
          <a:p>
            <a:pPr algn="l"/>
            <a:r>
              <a:rPr lang="en-US" b="1" dirty="0"/>
              <a:t>Example:</a:t>
            </a:r>
          </a:p>
          <a:p>
            <a:pPr algn="l"/>
            <a:r>
              <a:rPr lang="en-US" dirty="0"/>
              <a:t>V = (6,8)</a:t>
            </a:r>
          </a:p>
          <a:p>
            <a:pPr algn="l"/>
            <a:r>
              <a:rPr lang="en-US" b="1" dirty="0"/>
              <a:t>Means:</a:t>
            </a:r>
          </a:p>
          <a:p>
            <a:pPr algn="l"/>
            <a:r>
              <a:rPr lang="en-US" dirty="0"/>
              <a:t>6 units right</a:t>
            </a:r>
            <a:br>
              <a:rPr lang="en-US" dirty="0"/>
            </a:br>
            <a:r>
              <a:rPr lang="en-US" dirty="0"/>
              <a:t>8 units up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This creates an </a:t>
            </a:r>
            <a:r>
              <a:rPr lang="en-US" b="1" dirty="0"/>
              <a:t>arrow.</a:t>
            </a:r>
          </a:p>
          <a:p>
            <a:pPr algn="l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A56068-E625-7EE0-3C33-A7DB57243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1007" y="1557910"/>
            <a:ext cx="3818551" cy="3742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181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4A8B5-ACEE-D827-32D3-17CFAB214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39251"/>
            <a:ext cx="10515600" cy="883572"/>
          </a:xfrm>
        </p:spPr>
        <p:txBody>
          <a:bodyPr>
            <a:normAutofit/>
          </a:bodyPr>
          <a:lstStyle/>
          <a:p>
            <a:r>
              <a:rPr lang="en-US" sz="3600" b="1" u="sng" dirty="0">
                <a:latin typeface="Arial Narrow" panose="020B0606020202030204" pitchFamily="34" charset="0"/>
              </a:rPr>
              <a:t>Magnitude of Vector (Where Formula Comes From)?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B4BC8-9964-AA7E-0665-50284524443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Question:</a:t>
            </a:r>
          </a:p>
          <a:p>
            <a:pPr marL="0" indent="0">
              <a:buNone/>
            </a:pPr>
            <a:r>
              <a:rPr lang="en-US" sz="2400" dirty="0"/>
              <a:t>How long is vector (6,8) ?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b="1" dirty="0"/>
              <a:t>We create a triangle:</a:t>
            </a:r>
          </a:p>
          <a:p>
            <a:pPr marL="0" indent="0">
              <a:buNone/>
            </a:pPr>
            <a:r>
              <a:rPr lang="en-US" sz="2600" dirty="0"/>
              <a:t>Horizontal = 6</a:t>
            </a:r>
            <a:br>
              <a:rPr lang="en-US" sz="2600" dirty="0"/>
            </a:br>
            <a:r>
              <a:rPr lang="en-US" sz="2600" dirty="0"/>
              <a:t>Vertical = 8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Using Pythagoras theorem:</a:t>
            </a:r>
          </a:p>
          <a:p>
            <a:pPr marL="0" indent="0">
              <a:buNone/>
            </a:pPr>
            <a:r>
              <a:rPr lang="en-US" dirty="0"/>
              <a:t>|V| = √(x² + y²)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So:</a:t>
            </a:r>
          </a:p>
          <a:p>
            <a:pPr marL="0" indent="0">
              <a:buNone/>
            </a:pPr>
            <a:r>
              <a:rPr lang="en-US" dirty="0"/>
              <a:t>|V| = √(6² + 8²) = 10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42EE0-EECF-0564-B58F-45A875B4679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Mathematical origin:</a:t>
            </a:r>
          </a:p>
          <a:p>
            <a:r>
              <a:rPr lang="en-US" dirty="0"/>
              <a:t>Distance formula from geometry.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Real meaning:</a:t>
            </a:r>
          </a:p>
          <a:p>
            <a:r>
              <a:rPr lang="en-US" dirty="0"/>
              <a:t>Magnitude = strength / size.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Machine Learning:</a:t>
            </a:r>
          </a:p>
          <a:p>
            <a:pPr marL="0" indent="0">
              <a:buNone/>
            </a:pPr>
            <a:r>
              <a:rPr lang="en-US" dirty="0"/>
              <a:t>Used to measure:</a:t>
            </a:r>
          </a:p>
          <a:p>
            <a:pPr marL="0" indent="0">
              <a:buNone/>
            </a:pPr>
            <a:r>
              <a:rPr lang="en-US" dirty="0"/>
              <a:t>• Distance between data points</a:t>
            </a:r>
            <a:br>
              <a:rPr lang="en-US" dirty="0"/>
            </a:br>
            <a:r>
              <a:rPr lang="en-US" dirty="0"/>
              <a:t>• Error size</a:t>
            </a:r>
            <a:br>
              <a:rPr lang="en-US" dirty="0"/>
            </a:br>
            <a:r>
              <a:rPr lang="en-US" dirty="0"/>
              <a:t>• Similarity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2AD0F15-ECB3-9E95-D580-59DA2F3BE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7914" y="5230760"/>
            <a:ext cx="2914086" cy="162723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1A5E770-7AFC-4D0C-B616-622AE0BBCC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6877" y="2296024"/>
            <a:ext cx="2015323" cy="2020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699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0D5B4-4A71-AA3F-2FB6-621248958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6729" y="-106823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u="sng" dirty="0">
                <a:latin typeface="Arial Narrow" panose="020B0606020202030204" pitchFamily="34" charset="0"/>
              </a:rPr>
              <a:t>Vector Addition (Mathematical Reason)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39F17-3D61-58BB-64B0-29315B99E6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3626" y="1317523"/>
            <a:ext cx="5646174" cy="542740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Suppose:</a:t>
            </a:r>
          </a:p>
          <a:p>
            <a:pPr marL="0" indent="0">
              <a:buNone/>
            </a:pPr>
            <a:r>
              <a:rPr lang="en-US" dirty="0"/>
              <a:t>A = (3,2)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B = (1,4)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Total movement?</a:t>
            </a:r>
          </a:p>
          <a:p>
            <a:r>
              <a:rPr lang="en-US" dirty="0"/>
              <a:t>We add directions separately:</a:t>
            </a:r>
          </a:p>
          <a:p>
            <a:endParaRPr lang="en-US" dirty="0"/>
          </a:p>
          <a:p>
            <a:r>
              <a:rPr lang="en-US" b="1" dirty="0"/>
              <a:t>Horizontal:</a:t>
            </a:r>
          </a:p>
          <a:p>
            <a:pPr marL="0" indent="0">
              <a:buNone/>
            </a:pPr>
            <a:r>
              <a:rPr lang="en-US" dirty="0"/>
              <a:t>3 + 1 = 4</a:t>
            </a:r>
          </a:p>
          <a:p>
            <a:r>
              <a:rPr lang="en-US" b="1" dirty="0"/>
              <a:t>Vertical:</a:t>
            </a:r>
          </a:p>
          <a:p>
            <a:pPr marL="0" indent="0">
              <a:buNone/>
            </a:pPr>
            <a:r>
              <a:rPr lang="en-US" dirty="0"/>
              <a:t>2 + 4 = 6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So:</a:t>
            </a:r>
          </a:p>
          <a:p>
            <a:r>
              <a:rPr lang="en-US" dirty="0"/>
              <a:t>A + B = (4,6)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E83EDB-3E73-A7C2-4E24-15EBC095EB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8514" y="3251353"/>
            <a:ext cx="6545826" cy="333313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Why mathematically correct</a:t>
            </a:r>
            <a:r>
              <a:rPr lang="en-US" dirty="0"/>
              <a:t>?</a:t>
            </a:r>
          </a:p>
          <a:p>
            <a:pPr marL="0" indent="0">
              <a:buNone/>
            </a:pPr>
            <a:r>
              <a:rPr lang="en-US" dirty="0"/>
              <a:t>Because x and y directions are independent dimensions.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Machine Learning meaning:</a:t>
            </a:r>
          </a:p>
          <a:p>
            <a:pPr marL="0" indent="0">
              <a:buNone/>
            </a:pPr>
            <a:r>
              <a:rPr lang="en-US" dirty="0"/>
              <a:t>Combining feature information.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Example:</a:t>
            </a:r>
          </a:p>
          <a:p>
            <a:r>
              <a:rPr lang="en-US" dirty="0"/>
              <a:t>Income features from two sources.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C6A7AC-0D26-1A23-41DC-F067503330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0503" y="1105483"/>
            <a:ext cx="3215149" cy="164871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485830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CA006-C0C7-EAF1-8C38-0DB31FAE0F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2658" y="-1404527"/>
            <a:ext cx="9144000" cy="2387600"/>
          </a:xfrm>
        </p:spPr>
        <p:txBody>
          <a:bodyPr>
            <a:normAutofit/>
          </a:bodyPr>
          <a:lstStyle/>
          <a:p>
            <a:r>
              <a:rPr lang="en-US" sz="3600" b="1" u="sng" dirty="0">
                <a:latin typeface="Arial Narrow" panose="020B0606020202030204" pitchFamily="34" charset="0"/>
              </a:rPr>
              <a:t>Geometric Interpretation of Addition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258F92-83B0-2D2D-34FB-6B519C9DCF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6748" y="1179871"/>
            <a:ext cx="9389807" cy="5240594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Vector addition visually:</a:t>
            </a:r>
          </a:p>
          <a:p>
            <a:pPr algn="l"/>
            <a:r>
              <a:rPr lang="en-US" dirty="0"/>
              <a:t>Place second vector at end of first vector.</a:t>
            </a:r>
          </a:p>
          <a:p>
            <a:pPr algn="l"/>
            <a:endParaRPr lang="en-US" dirty="0"/>
          </a:p>
          <a:p>
            <a:pPr algn="l"/>
            <a:r>
              <a:rPr lang="en-US" b="1" dirty="0"/>
              <a:t>Resultant vector = diagonal.</a:t>
            </a:r>
          </a:p>
          <a:p>
            <a:pPr algn="l"/>
            <a:r>
              <a:rPr lang="en-US" dirty="0"/>
              <a:t>This comes from </a:t>
            </a:r>
            <a:r>
              <a:rPr lang="en-US" b="1" dirty="0"/>
              <a:t>parallelogram</a:t>
            </a:r>
            <a:r>
              <a:rPr lang="en-US" dirty="0"/>
              <a:t> rule in geometry.</a:t>
            </a:r>
          </a:p>
          <a:p>
            <a:pPr algn="l"/>
            <a:endParaRPr lang="en-US" dirty="0"/>
          </a:p>
          <a:p>
            <a:pPr algn="l"/>
            <a:r>
              <a:rPr lang="en-US" b="1" dirty="0"/>
              <a:t>Real meaning:</a:t>
            </a:r>
          </a:p>
          <a:p>
            <a:pPr algn="l"/>
            <a:r>
              <a:rPr lang="en-US" dirty="0"/>
              <a:t>Combining forces, movements, information.</a:t>
            </a:r>
          </a:p>
          <a:p>
            <a:pPr algn="l"/>
            <a:endParaRPr lang="en-US" dirty="0"/>
          </a:p>
          <a:p>
            <a:pPr algn="l"/>
            <a:r>
              <a:rPr lang="en-US" b="1" dirty="0"/>
              <a:t>Machine Learning:</a:t>
            </a:r>
          </a:p>
          <a:p>
            <a:pPr algn="l"/>
            <a:r>
              <a:rPr lang="en-US" dirty="0"/>
              <a:t>Multiple feature contributions combine to produce one output.</a:t>
            </a:r>
          </a:p>
          <a:p>
            <a:pPr algn="l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3193CA-F467-29B0-BBE4-AC61CAEBD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9481" y="1544670"/>
            <a:ext cx="3871513" cy="358777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216022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613E0-8EDF-A5FF-399D-2798FEE74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265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u="sng" dirty="0">
                <a:latin typeface="Arial Narrow" panose="020B0606020202030204" pitchFamily="34" charset="0"/>
              </a:rPr>
              <a:t>Why Vector Scaling is Important in ML</a:t>
            </a:r>
            <a:br>
              <a:rPr lang="en-US" sz="3600" b="1" u="sng" dirty="0">
                <a:latin typeface="Arial Narrow" panose="020B0606020202030204" pitchFamily="34" charset="0"/>
              </a:rPr>
            </a:br>
            <a:endParaRPr lang="en-US" sz="3600" b="1" u="sng" dirty="0">
              <a:latin typeface="Arial Narrow" panose="020B0606020202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29C21-1D00-08CD-7D25-EEBF2FE550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284" y="1471663"/>
            <a:ext cx="5181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In ML:</a:t>
            </a:r>
          </a:p>
          <a:p>
            <a:r>
              <a:rPr lang="en-US" dirty="0"/>
              <a:t>Features have different units</a:t>
            </a:r>
          </a:p>
          <a:p>
            <a:r>
              <a:rPr lang="en-US" dirty="0"/>
              <a:t>One feature may dominate others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Scaling ensures:</a:t>
            </a:r>
          </a:p>
          <a:p>
            <a:r>
              <a:rPr lang="en-US" dirty="0"/>
              <a:t>Fair contribution of all features</a:t>
            </a:r>
          </a:p>
          <a:p>
            <a:r>
              <a:rPr lang="en-US" dirty="0"/>
              <a:t>Faster learning</a:t>
            </a:r>
          </a:p>
          <a:p>
            <a:r>
              <a:rPr lang="en-US" dirty="0"/>
              <a:t>Better model performance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281FB6-D68F-CE02-3F77-7E4E36B606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73415" y="1177862"/>
            <a:ext cx="5181600" cy="261717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Real meaning:</a:t>
            </a:r>
          </a:p>
          <a:p>
            <a:pPr marL="0" indent="0">
              <a:buNone/>
            </a:pPr>
            <a:r>
              <a:rPr lang="en-US" sz="2400" dirty="0"/>
              <a:t>• Salary increase</a:t>
            </a:r>
            <a:br>
              <a:rPr lang="en-US" sz="2400" dirty="0"/>
            </a:br>
            <a:r>
              <a:rPr lang="en-US" sz="2400" dirty="0"/>
              <a:t>• Speed increase</a:t>
            </a:r>
            <a:br>
              <a:rPr lang="en-US" sz="2400" dirty="0"/>
            </a:br>
            <a:r>
              <a:rPr lang="en-US" sz="2400" dirty="0"/>
              <a:t>• Investment growth</a:t>
            </a:r>
          </a:p>
          <a:p>
            <a:pPr marL="0" indent="0">
              <a:buNone/>
            </a:pPr>
            <a:r>
              <a:rPr lang="en-US" b="1" dirty="0"/>
              <a:t>Machine Learning:</a:t>
            </a:r>
          </a:p>
          <a:p>
            <a:r>
              <a:rPr lang="en-US" sz="2400" dirty="0"/>
              <a:t>Weights scaling during training.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349537-7514-1471-FAC3-85CB9120B60D}"/>
              </a:ext>
            </a:extLst>
          </p:cNvPr>
          <p:cNvSpPr txBox="1"/>
          <p:nvPr/>
        </p:nvSpPr>
        <p:spPr>
          <a:xfrm>
            <a:off x="5373329" y="3647332"/>
            <a:ext cx="677934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EXAMPLE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Vector:</a:t>
            </a:r>
          </a:p>
          <a:p>
            <a:pPr>
              <a:buNone/>
            </a:pPr>
            <a:r>
              <a:rPr lang="en-US" dirty="0"/>
              <a:t>V = (2,3)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Multiply by 4:</a:t>
            </a:r>
          </a:p>
          <a:p>
            <a:pPr>
              <a:buNone/>
            </a:pPr>
            <a:r>
              <a:rPr lang="en-US" dirty="0"/>
              <a:t>4V = (8,12)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Why?</a:t>
            </a:r>
          </a:p>
          <a:p>
            <a:pPr>
              <a:buNone/>
            </a:pPr>
            <a:r>
              <a:rPr lang="en-US" dirty="0"/>
              <a:t>Because we scale both directions equally:</a:t>
            </a:r>
          </a:p>
          <a:p>
            <a:pPr>
              <a:buNone/>
            </a:pPr>
            <a:r>
              <a:rPr lang="en-US" b="1" dirty="0"/>
              <a:t>k(</a:t>
            </a:r>
            <a:r>
              <a:rPr lang="en-US" b="1" dirty="0" err="1"/>
              <a:t>x,y</a:t>
            </a:r>
            <a:r>
              <a:rPr lang="en-US" b="1" dirty="0"/>
              <a:t>) = (</a:t>
            </a:r>
            <a:r>
              <a:rPr lang="en-US" b="1" dirty="0" err="1"/>
              <a:t>kx</a:t>
            </a:r>
            <a:r>
              <a:rPr lang="en-US" b="1" dirty="0"/>
              <a:t>, </a:t>
            </a:r>
            <a:r>
              <a:rPr lang="en-US" b="1" dirty="0" err="1"/>
              <a:t>ky</a:t>
            </a:r>
            <a:r>
              <a:rPr lang="en-US" b="1" dirty="0"/>
              <a:t>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D394DA-49CC-299A-5148-88A9F2C02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6645" y="3795034"/>
            <a:ext cx="3500335" cy="216331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3242993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D6EA0-D887-D40D-19D8-4ED9AA93E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5994" y="1825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u="sng" dirty="0">
                <a:latin typeface="Arial Narrow" panose="020B0606020202030204" pitchFamily="34" charset="0"/>
              </a:rPr>
              <a:t>Dot Product of Two Vectors</a:t>
            </a:r>
            <a:r>
              <a:rPr lang="en-US" sz="3600" b="1" u="sng" dirty="0">
                <a:latin typeface="Arial Narrow" panose="020B0606020202030204" pitchFamily="34" charset="0"/>
                <a:hlinkClick r:id="rId2"/>
              </a:rPr>
              <a:t>¶</a:t>
            </a:r>
            <a:br>
              <a:rPr lang="en-US" sz="3600" b="1" u="sng" dirty="0">
                <a:latin typeface="Arial Narrow" panose="020B0606020202030204" pitchFamily="34" charset="0"/>
              </a:rPr>
            </a:br>
            <a:endParaRPr lang="en-US" sz="3600" b="1" u="sng" dirty="0">
              <a:latin typeface="Arial Narrow" panose="020B0606020202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169B8-1D0E-F875-3CC4-13C29516AA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2787" y="1343818"/>
            <a:ext cx="5400368" cy="490949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Dot product tells: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dirty="0"/>
              <a:t>How similar two vectors are</a:t>
            </a:r>
          </a:p>
          <a:p>
            <a:r>
              <a:rPr lang="en-US" dirty="0"/>
              <a:t>How aligned features are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Used in:</a:t>
            </a:r>
          </a:p>
          <a:p>
            <a:r>
              <a:rPr lang="en-US" dirty="0"/>
              <a:t>Linear Regression</a:t>
            </a:r>
          </a:p>
          <a:p>
            <a:r>
              <a:rPr lang="en-US" dirty="0"/>
              <a:t>Logistic Regression</a:t>
            </a:r>
          </a:p>
          <a:p>
            <a:r>
              <a:rPr lang="en-US" dirty="0"/>
              <a:t>Neural Networks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Formula:</a:t>
            </a:r>
          </a:p>
          <a:p>
            <a:r>
              <a:rPr lang="en-US" dirty="0"/>
              <a:t>v · u = </a:t>
            </a:r>
            <a:r>
              <a:rPr lang="en-US" dirty="0" err="1"/>
              <a:t>v₁u</a:t>
            </a:r>
            <a:r>
              <a:rPr lang="en-US" dirty="0"/>
              <a:t>₁ + </a:t>
            </a:r>
            <a:r>
              <a:rPr lang="en-US" dirty="0" err="1"/>
              <a:t>v₂u</a:t>
            </a:r>
            <a:r>
              <a:rPr lang="en-US" dirty="0"/>
              <a:t>₂ + ...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34A63F-79E7-F8AE-A5DE-35586951C8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87299" y="1238698"/>
            <a:ext cx="5181600" cy="275620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Example of Dot Product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v= [1, 2]</a:t>
            </a:r>
          </a:p>
          <a:p>
            <a:pPr marL="0" indent="0">
              <a:buNone/>
            </a:pPr>
            <a:r>
              <a:rPr lang="en-US" dirty="0"/>
              <a:t>u = [3, 4]</a:t>
            </a:r>
          </a:p>
          <a:p>
            <a:pPr marL="0" indent="0">
              <a:buNone/>
            </a:pPr>
            <a:r>
              <a:rPr lang="en-US" dirty="0"/>
              <a:t>v · u = (1×3) + (2×4) = 11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E83808-6556-824B-8A7D-DC07D891A986}"/>
              </a:ext>
            </a:extLst>
          </p:cNvPr>
          <p:cNvSpPr txBox="1"/>
          <p:nvPr/>
        </p:nvSpPr>
        <p:spPr>
          <a:xfrm>
            <a:off x="4567086" y="4483130"/>
            <a:ext cx="662202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Interpretation:</a:t>
            </a:r>
          </a:p>
          <a:p>
            <a:pPr>
              <a:buNone/>
            </a:pPr>
            <a:endParaRPr lang="en-US" sz="2800" b="1" dirty="0"/>
          </a:p>
          <a:p>
            <a:r>
              <a:rPr lang="en-US" sz="2400" dirty="0"/>
              <a:t>Large value → similar direction</a:t>
            </a:r>
            <a:br>
              <a:rPr lang="en-US" sz="2400" dirty="0"/>
            </a:br>
            <a:r>
              <a:rPr lang="en-US" sz="2400" dirty="0"/>
              <a:t>Small value → less similarity</a:t>
            </a:r>
            <a:br>
              <a:rPr lang="en-US" sz="2400" dirty="0"/>
            </a:br>
            <a:r>
              <a:rPr lang="en-US" sz="2400" dirty="0"/>
              <a:t>Zero → perpendicular → no relation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9DD4B1-C8C2-EE84-CC15-2D49B56737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5639" y="3262569"/>
            <a:ext cx="4135088" cy="16732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46019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9BAFB-04B5-622C-6C52-C4CEE3D2E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2097" y="138983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u="sng" dirty="0">
                <a:latin typeface="Arial Narrow" panose="020B0606020202030204" pitchFamily="34" charset="0"/>
              </a:rPr>
              <a:t>Orthogonality (Very Important Concept)</a:t>
            </a:r>
            <a:br>
              <a:rPr lang="en-US" sz="3600" b="1" u="sng" dirty="0">
                <a:latin typeface="Arial Narrow" panose="020B0606020202030204" pitchFamily="34" charset="0"/>
              </a:rPr>
            </a:br>
            <a:endParaRPr lang="en-US" sz="3600" b="1" u="sng" dirty="0">
              <a:latin typeface="Arial Narrow" panose="020B0606020202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13AE3-070D-B613-3DEC-CC0FFAFBDA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6252" y="1560154"/>
            <a:ext cx="5181600" cy="28938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Two vectors are </a:t>
            </a:r>
            <a:r>
              <a:rPr lang="en-US" b="1" dirty="0"/>
              <a:t>orthogonal</a:t>
            </a:r>
            <a:r>
              <a:rPr lang="en-US" dirty="0"/>
              <a:t> if:</a:t>
            </a:r>
          </a:p>
          <a:p>
            <a:r>
              <a:rPr lang="en-US" sz="2400" dirty="0"/>
              <a:t>Their dot product is zero</a:t>
            </a:r>
          </a:p>
          <a:p>
            <a:r>
              <a:rPr lang="en-US" sz="2400" dirty="0"/>
              <a:t>They are perpendicular</a:t>
            </a:r>
          </a:p>
          <a:p>
            <a:pPr marL="0" indent="0">
              <a:buNone/>
            </a:pPr>
            <a:r>
              <a:rPr lang="en-US" b="1" dirty="0"/>
              <a:t>Meaning in ML:</a:t>
            </a:r>
          </a:p>
          <a:p>
            <a:r>
              <a:rPr lang="en-US" sz="2400" dirty="0"/>
              <a:t>No correlation</a:t>
            </a:r>
          </a:p>
          <a:p>
            <a:r>
              <a:rPr lang="en-US" sz="2400" dirty="0"/>
              <a:t>Independent features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DA7D46-8DB3-4416-B677-B887A46F20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05989" y="1566811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Meaning:</a:t>
            </a:r>
          </a:p>
          <a:p>
            <a:r>
              <a:rPr lang="en-US" dirty="0"/>
              <a:t>No relationship between vectors.</a:t>
            </a:r>
          </a:p>
          <a:p>
            <a:pPr marL="0" indent="0">
              <a:buNone/>
            </a:pPr>
            <a:r>
              <a:rPr lang="en-US" b="1" dirty="0"/>
              <a:t>Real example:</a:t>
            </a:r>
          </a:p>
          <a:p>
            <a:r>
              <a:rPr lang="en-US" dirty="0"/>
              <a:t>Height vs favorite color.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Machine Learning:</a:t>
            </a:r>
          </a:p>
          <a:p>
            <a:r>
              <a:rPr lang="en-US" dirty="0"/>
              <a:t>Independent features are important for good models.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BD11E8-5A9E-CC9E-52B5-B2E355C92194}"/>
              </a:ext>
            </a:extLst>
          </p:cNvPr>
          <p:cNvSpPr txBox="1"/>
          <p:nvPr/>
        </p:nvSpPr>
        <p:spPr>
          <a:xfrm>
            <a:off x="366252" y="4689987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EXAMPLE:</a:t>
            </a:r>
          </a:p>
          <a:p>
            <a:endParaRPr lang="en-US" sz="2000" b="1" dirty="0"/>
          </a:p>
          <a:p>
            <a:r>
              <a:rPr lang="en-US" sz="2000" dirty="0"/>
              <a:t>v = [1, 0]</a:t>
            </a:r>
          </a:p>
          <a:p>
            <a:r>
              <a:rPr lang="en-US" sz="2000" dirty="0"/>
              <a:t>u = [0, 1]</a:t>
            </a:r>
          </a:p>
          <a:p>
            <a:r>
              <a:rPr lang="en-US" sz="2000" dirty="0"/>
              <a:t>v · u = 0</a:t>
            </a:r>
          </a:p>
          <a:p>
            <a:r>
              <a:rPr lang="en-US" sz="2000" dirty="0"/>
              <a:t>Hence: Vectors are orthogonal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892671-6075-6DA7-31EE-DF162C313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4252" y="3215149"/>
            <a:ext cx="3064231" cy="3001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5733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DE365-F1C0-7369-34C0-640BB569D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605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u="sng" dirty="0">
                <a:latin typeface="Arial Narrow" panose="020B0606020202030204" pitchFamily="34" charset="0"/>
              </a:rPr>
              <a:t>CROSS PRODUCT IN ML (OPTIONAL)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A4ACA-3BDA-3755-D8BC-7FEEAF0A75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4071" y="1648645"/>
            <a:ext cx="5181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Cross product:</a:t>
            </a:r>
          </a:p>
          <a:p>
            <a:r>
              <a:rPr lang="en-US" dirty="0"/>
              <a:t>Produces a vector perpendicular to both input vectors</a:t>
            </a:r>
          </a:p>
          <a:p>
            <a:r>
              <a:rPr lang="en-US" dirty="0"/>
              <a:t>Defined only in 3D space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Used in:</a:t>
            </a:r>
          </a:p>
          <a:p>
            <a:r>
              <a:rPr lang="en-US" dirty="0"/>
              <a:t>Physics</a:t>
            </a:r>
          </a:p>
          <a:p>
            <a:r>
              <a:rPr lang="en-US" dirty="0"/>
              <a:t>Robotics</a:t>
            </a:r>
          </a:p>
          <a:p>
            <a:r>
              <a:rPr lang="en-US" dirty="0"/>
              <a:t>3D graphics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4A73B0-0A3C-7027-8A7D-208A4AC78D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48516" y="1648645"/>
            <a:ext cx="5552768" cy="476111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/>
              <a:t>Why Cross Product is Less Important in ML</a:t>
            </a:r>
            <a:r>
              <a:rPr lang="en-US" sz="3000" b="1" dirty="0">
                <a:hlinkClick r:id="rId2"/>
              </a:rPr>
              <a:t>¶</a:t>
            </a:r>
            <a:endParaRPr lang="en-US" sz="3000" b="1" dirty="0"/>
          </a:p>
          <a:p>
            <a:r>
              <a:rPr lang="en-US" sz="2400" dirty="0"/>
              <a:t>Most ML problems:</a:t>
            </a:r>
          </a:p>
          <a:p>
            <a:r>
              <a:rPr lang="en-US" sz="2400" dirty="0"/>
              <a:t>Are high dimensional</a:t>
            </a:r>
          </a:p>
          <a:p>
            <a:r>
              <a:rPr lang="en-US" sz="2400" dirty="0"/>
              <a:t>Do not rely on 3D geometry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b="1" dirty="0"/>
              <a:t>So cross product is:</a:t>
            </a:r>
          </a:p>
          <a:p>
            <a:r>
              <a:rPr lang="en-US" sz="2400" dirty="0"/>
              <a:t>Good to know</a:t>
            </a:r>
          </a:p>
          <a:p>
            <a:r>
              <a:rPr lang="en-US" sz="2400" dirty="0"/>
              <a:t>Rarely used directly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6340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3F096-EF88-BFBF-F7E6-A45A64D5A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085" y="13898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3600" b="1" u="sng" dirty="0">
                <a:latin typeface="Arial Narrow" panose="020B0606020202030204" pitchFamily="34" charset="0"/>
              </a:rPr>
              <a:t>Vector Norms (Magnitude)</a:t>
            </a:r>
            <a:r>
              <a:rPr lang="en-US" sz="3600" b="1" u="sng" dirty="0">
                <a:latin typeface="Arial Narrow" panose="020B0606020202030204" pitchFamily="34" charset="0"/>
                <a:hlinkClick r:id="rId2"/>
              </a:rPr>
              <a:t>¶</a:t>
            </a:r>
            <a:br>
              <a:rPr lang="en-US" sz="3600" b="1" u="sng" dirty="0">
                <a:latin typeface="Arial Narrow" panose="020B0606020202030204" pitchFamily="34" charset="0"/>
              </a:rPr>
            </a:br>
            <a:br>
              <a:rPr lang="en-US" sz="3600" b="1" u="sng" dirty="0">
                <a:latin typeface="Arial Narrow" panose="020B0606020202030204" pitchFamily="34" charset="0"/>
              </a:rPr>
            </a:br>
            <a:r>
              <a:rPr lang="en-US" sz="3600" b="1" u="sng" dirty="0">
                <a:latin typeface="Arial Narrow" panose="020B0606020202030204" pitchFamily="34" charset="0"/>
              </a:rPr>
              <a:t>Norm </a:t>
            </a:r>
            <a:r>
              <a:rPr lang="en-US" sz="3600" b="1" dirty="0">
                <a:latin typeface="Arial Narrow" panose="020B0606020202030204" pitchFamily="34" charset="0"/>
              </a:rPr>
              <a:t>= Length of any vector:</a:t>
            </a:r>
            <a:br>
              <a:rPr lang="en-US" sz="3600" b="1" dirty="0">
                <a:latin typeface="Arial Narrow" panose="020B0606020202030204" pitchFamily="34" charset="0"/>
              </a:rPr>
            </a:br>
            <a:r>
              <a:rPr lang="en-US" sz="3600" b="1" dirty="0">
                <a:latin typeface="Arial Narrow" panose="020B0606020202030204" pitchFamily="34" charset="0"/>
              </a:rPr>
              <a:t> </a:t>
            </a:r>
            <a:br>
              <a:rPr lang="en-US" sz="3600" b="1" dirty="0">
                <a:latin typeface="Arial Narrow" panose="020B0606020202030204" pitchFamily="34" charset="0"/>
              </a:rPr>
            </a:br>
            <a:r>
              <a:rPr lang="en-US" sz="3100" b="1" dirty="0">
                <a:latin typeface="Arial Narrow" panose="020B0606020202030204" pitchFamily="34" charset="0"/>
              </a:rPr>
              <a:t>Types of Norms </a:t>
            </a:r>
            <a:r>
              <a:rPr lang="en-US" sz="3600" b="1" dirty="0">
                <a:latin typeface="Arial Narrow" panose="020B0606020202030204" pitchFamily="34" charset="0"/>
              </a:rPr>
              <a:t>:</a:t>
            </a:r>
            <a:br>
              <a:rPr lang="en-US" sz="3600" b="1" dirty="0">
                <a:latin typeface="Arial Narrow" panose="020B0606020202030204" pitchFamily="34" charset="0"/>
              </a:rPr>
            </a:br>
            <a:r>
              <a:rPr lang="en-US" sz="2700" b="1" dirty="0">
                <a:latin typeface="Arial Narrow" panose="020B0606020202030204" pitchFamily="34" charset="0"/>
              </a:rPr>
              <a:t>1. L1 norm</a:t>
            </a:r>
            <a:br>
              <a:rPr lang="en-US" sz="2700" b="1" dirty="0">
                <a:latin typeface="Arial Narrow" panose="020B0606020202030204" pitchFamily="34" charset="0"/>
              </a:rPr>
            </a:br>
            <a:r>
              <a:rPr lang="en-US" sz="2700" b="1" dirty="0">
                <a:latin typeface="Arial Narrow" panose="020B0606020202030204" pitchFamily="34" charset="0"/>
              </a:rPr>
              <a:t>2. L2 Norm</a:t>
            </a:r>
            <a:endParaRPr lang="en-US" sz="2700" b="1" u="sng" dirty="0">
              <a:latin typeface="Arial Narrow" panose="020B0606020202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EA3B4-5F40-6A01-1C58-CBC40AB7D1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6085" y="2506662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L1 Norm (Manhattan Distance)</a:t>
            </a:r>
            <a:r>
              <a:rPr lang="en-US" b="1" dirty="0">
                <a:hlinkClick r:id="rId3"/>
              </a:rPr>
              <a:t>¶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Definition</a:t>
            </a:r>
            <a:r>
              <a:rPr lang="en-US" dirty="0"/>
              <a:t>: Sum of absolute values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Example:</a:t>
            </a:r>
          </a:p>
          <a:p>
            <a:r>
              <a:rPr lang="en-US" dirty="0"/>
              <a:t>v = [3, -4]</a:t>
            </a:r>
          </a:p>
          <a:p>
            <a:endParaRPr lang="en-US" dirty="0"/>
          </a:p>
          <a:p>
            <a:r>
              <a:rPr lang="en-US" dirty="0"/>
              <a:t>L1 = |3| + |−4| = 7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DBDC32-CDBE-0F28-9048-68C82E5495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8845" y="2506662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L2 Norm (Euclidean Distance)</a:t>
            </a:r>
          </a:p>
          <a:p>
            <a:pPr marL="0" indent="0">
              <a:buNone/>
            </a:pPr>
            <a:r>
              <a:rPr lang="en-US" b="1" dirty="0"/>
              <a:t>Definition</a:t>
            </a:r>
            <a:r>
              <a:rPr lang="en-US" dirty="0"/>
              <a:t>: Square root of sum of squares</a:t>
            </a:r>
          </a:p>
          <a:p>
            <a:pPr marL="0" indent="0">
              <a:buNone/>
            </a:pPr>
            <a:r>
              <a:rPr lang="en-US" b="1" dirty="0"/>
              <a:t>Example:</a:t>
            </a:r>
          </a:p>
          <a:p>
            <a:r>
              <a:rPr lang="en-US" dirty="0"/>
              <a:t>v = [3, 4]</a:t>
            </a:r>
          </a:p>
          <a:p>
            <a:endParaRPr lang="en-US" dirty="0"/>
          </a:p>
          <a:p>
            <a:r>
              <a:rPr lang="en-US" dirty="0"/>
              <a:t>L2 = √(3² + 4²) = 5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DB927F-642A-6CF8-B5AD-3D23C9C1A9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3561" y="138983"/>
            <a:ext cx="4933748" cy="187023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2314099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04693-1939-AF1F-7C82-9C77C7C92B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799303" y="48683"/>
            <a:ext cx="9144000" cy="973394"/>
          </a:xfrm>
        </p:spPr>
        <p:txBody>
          <a:bodyPr>
            <a:normAutofit/>
          </a:bodyPr>
          <a:lstStyle/>
          <a:p>
            <a:r>
              <a:rPr lang="en-US" sz="3600" b="1" u="sng" dirty="0">
                <a:latin typeface="Arial Narrow" panose="020B0606020202030204" pitchFamily="34" charset="0"/>
              </a:rPr>
              <a:t>WHY NORMS MATTERS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D47726-6C97-513B-A7A0-CAC8051E71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9767" y="1327354"/>
            <a:ext cx="9144000" cy="3763297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Norms are used for: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Distance calculation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Similarity measurement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Regularization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Model optimization</a:t>
            </a:r>
          </a:p>
          <a:p>
            <a:pPr algn="l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32776C-250D-F15B-BD3D-9A999B208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3110" y="1613446"/>
            <a:ext cx="7098890" cy="4826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801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929</Words>
  <Application>Microsoft Office PowerPoint</Application>
  <PresentationFormat>Widescreen</PresentationFormat>
  <Paragraphs>201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Narrow</vt:lpstr>
      <vt:lpstr>Calibri</vt:lpstr>
      <vt:lpstr>Calibri Light</vt:lpstr>
      <vt:lpstr>Office Theme</vt:lpstr>
      <vt:lpstr>Day 41 – Linear Algebra for Machine Learning (Vectors)  Why Linear Algebra is Important in Machine Learning? </vt:lpstr>
      <vt:lpstr>Why We Are Learning This</vt:lpstr>
      <vt:lpstr>What is a Vector (From Real World to Math)</vt:lpstr>
      <vt:lpstr>Vector Representation on Graph</vt:lpstr>
      <vt:lpstr>Magnitude of Vector (Where Formula Comes From)?</vt:lpstr>
      <vt:lpstr>Vector Addition (Mathematical Reason)</vt:lpstr>
      <vt:lpstr>Geometric Interpretation of Addition</vt:lpstr>
      <vt:lpstr>Why Vector Scaling is Important in ML </vt:lpstr>
      <vt:lpstr>Dot Product of Two Vectors¶ </vt:lpstr>
      <vt:lpstr>Orthogonality (Very Important Concept) </vt:lpstr>
      <vt:lpstr>CROSS PRODUCT IN ML (OPTIONAL)</vt:lpstr>
      <vt:lpstr>Vector Norms (Magnitude)¶  Norm = Length of any vector:   Types of Norms : 1. L1 norm 2. L2 Norm</vt:lpstr>
      <vt:lpstr>WHY NORMS MATTERS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Prasad Charate</dc:creator>
  <cp:lastModifiedBy>Prasad Charate</cp:lastModifiedBy>
  <cp:revision>2</cp:revision>
  <dcterms:created xsi:type="dcterms:W3CDTF">2026-02-19T12:22:59Z</dcterms:created>
  <dcterms:modified xsi:type="dcterms:W3CDTF">2026-02-19T13:23:54Z</dcterms:modified>
</cp:coreProperties>
</file>