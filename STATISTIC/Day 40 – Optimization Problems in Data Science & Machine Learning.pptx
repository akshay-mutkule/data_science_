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83D0-1AF9-CE94-0370-001A28544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8D843-A24F-F023-136C-9D436BB28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E4FFF-D264-A9AB-88AA-0C56997D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B3F2-4563-8D65-3495-A5FA3685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F06BD-56B0-2C10-47C3-00ACC5F5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2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0D55-8AB7-4307-56C6-6CE36620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6920-F806-6A47-2094-F41467325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8EBFB-368D-7793-E902-82D2C8A3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7F487-4B7B-D78D-529A-A14B4EEC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D031-2F20-21C1-5EAA-C1AEFB89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8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5B72-843F-6C42-DE62-2ADB1850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005C6-85D8-EF90-FEA1-228158574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0005C-F9AE-0C6F-B659-AF4DB363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981AD-D929-D0A7-4631-779BE19F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4972-6085-46B8-6E27-45940989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5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DDE7-8E88-4DB7-D75B-8334637D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19EB-2CD6-F352-B9A6-F59114B92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8BDF6-4889-327E-A3C0-C706FE4AF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BF639-264F-987F-90C0-170562FD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488C1-070A-A7DC-6786-2A4720A8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9C852-81EB-7644-F9BF-704E18CC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1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D62E-12DA-3609-845C-0AC61FFB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2D4D0-DE01-6397-0A96-0D2F11325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3B1F4-AF7E-4DA1-6F50-EE6D02E62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53E46-B826-C14E-FC8C-438C4EA6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F00BD-BCAF-2106-463A-AE0EC0ABE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FAE11-6CC9-9EB8-4B4E-F49E62AF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E3478-96D5-DEE3-AB95-9092AA3D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E6014-D7D3-4D9C-0F5E-7CBDD65D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0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D2FA-836D-BD56-C549-E3DEED0F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C3B99-7A79-C220-46D1-78C7B6953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9EE5C-8A42-8502-50CF-70D6F4BB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0729F-126D-CAD8-D665-50837101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751E2-B741-6379-4997-8AA3A32F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C9925-407E-BC82-1307-81012D2E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DA0E5-A111-7C03-08E2-7AEA8E05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1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EB08-898C-8591-190D-818064FEE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44DA-47F9-4064-F6B0-23E23770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A2C8E-0C68-77DE-21D3-57747E8FD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D26C6-C7D6-11D7-6880-ABF0A1F2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47A46-AC43-F8C2-1B90-57DFDF97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4D045-5461-58CC-30EA-3ACC5F4A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8A5D-6985-F742-02FD-0DCD4179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41345-5660-D902-1722-CA4A861FF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7322B-D197-037C-B476-8793CD047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BC3A-750A-DBDD-C436-2F1765F9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FAA1E-786B-47FA-3419-48D70FE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1A596-126E-CB5D-BB92-B6213215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0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F192-1D3A-E5B4-7E56-7DEF8690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9A4E6-4F82-01B4-DC23-C06EDBD78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6946-0CDC-E882-D9D3-C2CE83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BA992-437F-6A55-6044-427F93E9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9166-433C-BED3-7971-36E99F79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E4166B-25E7-7071-6998-C192690B1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48914-4EEB-A905-E59D-2E2213564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D8B4E-5B42-A0F2-DD9D-2587D3E0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9A46-D090-F51B-E5E2-E74DAED27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5239F-5D9F-11DA-BCAC-DAC4102A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81C54-66C8-8978-8918-8768A88E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834D-881F-261E-93E8-D4704F44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4D60-1CD6-6756-3BA5-5391ED3E1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F2157-9901-4FDB-A795-A651AB7B510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5EF5-CD2C-6850-08BD-F97BDD3B3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9BF48-1FA9-C039-F478-3983CE030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AA488-E418-4BF0-B788-E6FF3B4F3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5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40%20-%20Optimization_Problems%20.ipynb?#Why-Are-We-Learning-Optimization?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40%20-%20Optimization_Problems%20.ipynb?#Definition: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40%20-%20Optimization_Problems%20.ipynb?#Important-Terminology-(VERY-IMPORTANT)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localhost:8888/notebooks/Desktop/My/Work/Greamio/G4%20Adv%20Stats/Day%2040%20-%20Optimization_Problems%20.ipynb?#Cost-Function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ocalhost:8888/notebooks/Desktop/My/Work/Greamio/G4%20Adv%20Stats/Day%2040%20-%20Optimization_Problems%20.ipynb?#Relationship-Summary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40%20-%20Optimization_Problems%20.ipynb?#Optimization-Using-Derivative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593B-E6F5-DF67-6031-4EC3C8AED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394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rial Narrow" panose="020B0606020202030204" pitchFamily="34" charset="0"/>
              </a:rPr>
              <a:t>Day 40 – Optimization Problems in Data Science &amp; Machine Learning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57106-5403-3743-C034-65EE5BCDC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2760"/>
            <a:ext cx="9144000" cy="4463845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latin typeface="Arial Narrow" panose="020B0606020202030204" pitchFamily="34" charset="0"/>
              </a:rPr>
              <a:t>Why Are We Learning Optimization?</a:t>
            </a:r>
            <a:r>
              <a:rPr lang="en-US" b="1" u="sng" dirty="0">
                <a:latin typeface="Arial Narrow" panose="020B0606020202030204" pitchFamily="34" charset="0"/>
                <a:hlinkClick r:id="rId2"/>
              </a:rPr>
              <a:t>¶</a:t>
            </a:r>
            <a:endParaRPr lang="en-US" b="1" u="sng" dirty="0">
              <a:latin typeface="Arial Narrow" panose="020B0606020202030204" pitchFamily="34" charset="0"/>
            </a:endParaRPr>
          </a:p>
          <a:p>
            <a:endParaRPr lang="en-US" b="1" u="sng" dirty="0">
              <a:latin typeface="Arial Narrow" panose="020B0606020202030204" pitchFamily="34" charset="0"/>
            </a:endParaRPr>
          </a:p>
          <a:p>
            <a:pPr algn="l"/>
            <a:r>
              <a:rPr lang="en-US" b="1" dirty="0"/>
              <a:t>Q) </a:t>
            </a:r>
            <a:r>
              <a:rPr lang="en-US" dirty="0"/>
              <a:t>We often ask: " why are we learning all this calculus?"</a:t>
            </a:r>
          </a:p>
          <a:p>
            <a:pPr algn="l"/>
            <a:r>
              <a:rPr lang="en-US" b="1" dirty="0"/>
              <a:t>Answer: </a:t>
            </a:r>
            <a:r>
              <a:rPr lang="en-US" dirty="0"/>
              <a:t>Machine Learning is nothing but </a:t>
            </a:r>
            <a:r>
              <a:rPr lang="en-US" b="1" dirty="0"/>
              <a:t>reducing mistakes step by step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Every ML model: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Makes a prediction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Measures how wrong it 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Tries to reduce that wrongness</a:t>
            </a:r>
          </a:p>
          <a:p>
            <a:pPr algn="l"/>
            <a:r>
              <a:rPr lang="en-US" dirty="0"/>
              <a:t>This process of reducing error is called </a:t>
            </a:r>
            <a:r>
              <a:rPr lang="en-US" b="1" dirty="0"/>
              <a:t>Optimization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👉 If optimization fails, ML fails.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0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306F-39E5-9B77-C58D-E841E27C1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478"/>
            <a:ext cx="9144000" cy="146500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What is Optimization?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8DB55-7306-E9B9-B3F6-156F91D0B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2" y="1474839"/>
            <a:ext cx="9527458" cy="4404851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Definition:</a:t>
            </a:r>
            <a:r>
              <a:rPr lang="en-US" b="1" dirty="0">
                <a:hlinkClick r:id="rId2"/>
              </a:rPr>
              <a:t>¶</a:t>
            </a:r>
            <a:endParaRPr lang="en-US" b="1" dirty="0"/>
          </a:p>
          <a:p>
            <a:pPr algn="just"/>
            <a:r>
              <a:rPr lang="en-US" dirty="0"/>
              <a:t>Optimization means finding the </a:t>
            </a:r>
            <a:r>
              <a:rPr lang="en-US" b="1" dirty="0"/>
              <a:t>best possible value</a:t>
            </a:r>
            <a:r>
              <a:rPr lang="en-US" dirty="0"/>
              <a:t> of something under given conditions.</a:t>
            </a:r>
          </a:p>
          <a:p>
            <a:pPr algn="just"/>
            <a:r>
              <a:rPr lang="en-US" b="1" dirty="0"/>
              <a:t>In Data Science: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Best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Lowest error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Highest accuracy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sz="2800" b="1" dirty="0"/>
              <a:t>Optimization = Making the model as good as possible.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0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0F7F-1C67-A1C2-107A-91365DD57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Optimization Difference between 2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A7774-2E4F-9F9A-B0B4-526F4567D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752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Optimization in Simple Real Life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Choosing the fastest route on Google Maps</a:t>
            </a:r>
          </a:p>
          <a:p>
            <a:r>
              <a:rPr lang="en-US" dirty="0"/>
              <a:t>Buying the cheapest flight ticket</a:t>
            </a:r>
          </a:p>
          <a:p>
            <a:r>
              <a:rPr lang="en-US" dirty="0"/>
              <a:t>Studying minimum hours for maximum marks</a:t>
            </a:r>
          </a:p>
          <a:p>
            <a:r>
              <a:rPr lang="en-US" dirty="0"/>
              <a:t>All these are optimization problems.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B4DB3-34B1-1A18-1E15-0268E614E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65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Optimization in Machine Learning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ML, we want:</a:t>
            </a:r>
          </a:p>
          <a:p>
            <a:r>
              <a:rPr lang="en-US" dirty="0"/>
              <a:t>Minimum error</a:t>
            </a:r>
          </a:p>
          <a:p>
            <a:r>
              <a:rPr lang="en-US" dirty="0"/>
              <a:t>Minimum loss</a:t>
            </a:r>
          </a:p>
          <a:p>
            <a:r>
              <a:rPr lang="en-US" dirty="0"/>
              <a:t>Minimum cost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model learns by </a:t>
            </a:r>
            <a:r>
              <a:rPr lang="en-US" b="1" dirty="0"/>
              <a:t>adjusting its parameters</a:t>
            </a:r>
            <a:r>
              <a:rPr lang="en-US" dirty="0"/>
              <a:t> to reduce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92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01485E-DCAF-65DD-FFC0-6D8705C9A2A3}"/>
              </a:ext>
            </a:extLst>
          </p:cNvPr>
          <p:cNvSpPr txBox="1"/>
          <p:nvPr/>
        </p:nvSpPr>
        <p:spPr>
          <a:xfrm>
            <a:off x="186813" y="76326"/>
            <a:ext cx="8681884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US" sz="2000" b="1" i="0" dirty="0">
                <a:effectLst/>
                <a:latin typeface="Arial Narrow" panose="020B0606020202030204" pitchFamily="34" charset="0"/>
              </a:rPr>
              <a:t>                                                            </a:t>
            </a:r>
            <a:r>
              <a:rPr lang="en-US" sz="2000" b="1" i="0" u="sng" dirty="0">
                <a:effectLst/>
                <a:latin typeface="Arial Narrow" panose="020B0606020202030204" pitchFamily="34" charset="0"/>
              </a:rPr>
              <a:t>Important Terminology (VERY IMPORTANT)</a:t>
            </a:r>
            <a:r>
              <a:rPr lang="en-US" sz="2000" b="1" i="0" u="sng" strike="noStrike" dirty="0">
                <a:solidFill>
                  <a:srgbClr val="0D47A1"/>
                </a:solidFill>
                <a:effectLst/>
                <a:latin typeface="Arial Narrow" panose="020B0606020202030204" pitchFamily="34" charset="0"/>
                <a:hlinkClick r:id="rId2"/>
              </a:rPr>
              <a:t>¶</a:t>
            </a:r>
            <a:endParaRPr lang="en-US" sz="2000" b="1" i="0" u="sng" dirty="0">
              <a:effectLst/>
              <a:latin typeface="Arial Narrow" panose="020B0606020202030204" pitchFamily="34" charset="0"/>
            </a:endParaRPr>
          </a:p>
          <a:p>
            <a:pPr algn="l">
              <a:buNone/>
            </a:pPr>
            <a:r>
              <a:rPr lang="en-US" sz="2400" b="0" i="0" dirty="0">
                <a:effectLst/>
                <a:latin typeface="system-ui"/>
              </a:rPr>
              <a:t>Before optimization, we must clearly understand these terms:</a:t>
            </a:r>
          </a:p>
          <a:p>
            <a:pPr algn="l">
              <a:buNone/>
            </a:pPr>
            <a:endParaRPr lang="en-US" sz="24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</a:t>
            </a:r>
            <a:r>
              <a:rPr lang="en-US" sz="2400" b="1" i="0" dirty="0">
                <a:effectLst/>
                <a:latin typeface="system-ui"/>
              </a:rPr>
              <a:t>Error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</a:t>
            </a:r>
            <a:r>
              <a:rPr lang="en-US" sz="2400" b="1" i="0" dirty="0">
                <a:effectLst/>
                <a:latin typeface="system-ui"/>
              </a:rPr>
              <a:t>Loss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</a:t>
            </a:r>
            <a:r>
              <a:rPr lang="en-US" sz="2400" b="1" i="0" dirty="0">
                <a:effectLst/>
                <a:latin typeface="system-ui"/>
              </a:rPr>
              <a:t>Cost</a:t>
            </a:r>
          </a:p>
          <a:p>
            <a:pPr algn="l">
              <a:buNone/>
            </a:pPr>
            <a:r>
              <a:rPr lang="en-US" sz="2400" b="0" i="0" dirty="0">
                <a:effectLst/>
                <a:latin typeface="system-ui"/>
              </a:rPr>
              <a:t>Many of us get confused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76171-2336-52E8-AD99-68429CF75C87}"/>
              </a:ext>
            </a:extLst>
          </p:cNvPr>
          <p:cNvSpPr txBox="1"/>
          <p:nvPr/>
        </p:nvSpPr>
        <p:spPr>
          <a:xfrm>
            <a:off x="186813" y="3192563"/>
            <a:ext cx="6096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1210"/>
              </a:spcAft>
              <a:buNone/>
            </a:pPr>
            <a:r>
              <a:rPr lang="en-US" sz="2000" b="1" i="0" u="sng" dirty="0">
                <a:effectLst/>
                <a:latin typeface="system-ui"/>
              </a:rPr>
              <a:t>Error</a:t>
            </a:r>
          </a:p>
          <a:p>
            <a:pPr algn="l">
              <a:buNone/>
            </a:pPr>
            <a:endParaRPr lang="en-US" b="0" i="0" dirty="0">
              <a:effectLst/>
              <a:latin typeface="menlo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menlo"/>
              </a:rPr>
              <a:t>Example: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menlo"/>
              </a:rPr>
              <a:t>Actual salary = 50,000  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menlo"/>
              </a:rPr>
              <a:t>Predicted salary = 45,000  </a:t>
            </a:r>
          </a:p>
          <a:p>
            <a:pPr algn="l">
              <a:buNone/>
            </a:pPr>
            <a:endParaRPr lang="en-US" sz="2000" b="0" i="0" dirty="0">
              <a:effectLst/>
              <a:latin typeface="menlo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menlo"/>
              </a:rPr>
              <a:t>Error = 5,000</a:t>
            </a:r>
          </a:p>
          <a:p>
            <a:pPr algn="l">
              <a:buNone/>
            </a:pPr>
            <a:endParaRPr lang="en-US" sz="2000" b="0" i="0" dirty="0">
              <a:effectLst/>
              <a:latin typeface="menlo"/>
            </a:endParaRPr>
          </a:p>
          <a:p>
            <a:pPr algn="l">
              <a:buNone/>
            </a:pPr>
            <a:r>
              <a:rPr lang="en-US" sz="2000" b="1" i="0" dirty="0">
                <a:effectLst/>
                <a:latin typeface="menlo"/>
              </a:rPr>
              <a:t>Error tells how wrong one prediction is</a:t>
            </a:r>
            <a:r>
              <a:rPr lang="en-US" b="1" i="0" dirty="0">
                <a:effectLst/>
                <a:latin typeface="menlo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504B6-8D70-BA5E-4CEE-8068007E3CF9}"/>
              </a:ext>
            </a:extLst>
          </p:cNvPr>
          <p:cNvSpPr txBox="1"/>
          <p:nvPr/>
        </p:nvSpPr>
        <p:spPr>
          <a:xfrm>
            <a:off x="6282813" y="3192563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1210"/>
              </a:spcAft>
              <a:buNone/>
            </a:pPr>
            <a:r>
              <a:rPr lang="en-US" sz="2000" b="1" i="0" u="sng" dirty="0">
                <a:effectLst/>
                <a:latin typeface="system-ui"/>
              </a:rPr>
              <a:t>Loss Function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system-ui"/>
              </a:rPr>
              <a:t>Loss is the error calculated for </a:t>
            </a:r>
            <a:r>
              <a:rPr lang="en-US" sz="2000" b="1" i="0" dirty="0">
                <a:effectLst/>
                <a:latin typeface="system-ui"/>
              </a:rPr>
              <a:t>one single data point</a:t>
            </a:r>
            <a:r>
              <a:rPr lang="en-US" sz="2000" b="0" i="0" dirty="0">
                <a:effectLst/>
                <a:latin typeface="system-ui"/>
              </a:rPr>
              <a:t>.</a:t>
            </a:r>
          </a:p>
          <a:p>
            <a:pPr algn="l">
              <a:buNone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system-ui"/>
              </a:rPr>
              <a:t>Examples: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Error for one student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Error for one house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Error for one image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sz="2000" b="1" i="0" dirty="0">
                <a:effectLst/>
                <a:latin typeface="system-ui"/>
              </a:rPr>
              <a:t>Loss answers: </a:t>
            </a:r>
            <a:r>
              <a:rPr lang="en-US" sz="2000" b="0" i="0" dirty="0">
                <a:effectLst/>
                <a:latin typeface="system-ui"/>
              </a:rPr>
              <a:t>"How wrong is the model for THIS data point?"</a:t>
            </a:r>
          </a:p>
        </p:txBody>
      </p:sp>
    </p:spTree>
    <p:extLst>
      <p:ext uri="{BB962C8B-B14F-4D97-AF65-F5344CB8AC3E}">
        <p14:creationId xmlns:p14="http://schemas.microsoft.com/office/powerpoint/2010/main" val="1691859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AA5C-F91E-459D-6B71-D9CC610C3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4272"/>
            <a:ext cx="9144000" cy="1099728"/>
          </a:xfrm>
        </p:spPr>
        <p:txBody>
          <a:bodyPr>
            <a:normAutofit fontScale="90000"/>
          </a:bodyPr>
          <a:lstStyle/>
          <a:p>
            <a:r>
              <a:rPr lang="en-US" sz="4000" b="1" u="sng" dirty="0">
                <a:latin typeface="Arial Narrow" panose="020B0606020202030204" pitchFamily="34" charset="0"/>
              </a:rPr>
              <a:t>Cost Function</a:t>
            </a:r>
            <a:r>
              <a:rPr lang="en-US" sz="4000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1C4F2-E472-C1C9-194D-1A5ACDCB2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1523999"/>
            <a:ext cx="9517626" cy="428686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Definition</a:t>
            </a:r>
            <a:endParaRPr lang="en-US" dirty="0"/>
          </a:p>
          <a:p>
            <a:r>
              <a:rPr lang="en-US" dirty="0"/>
              <a:t>A Cost Function measures how far the predicted value is from the actual value.</a:t>
            </a:r>
          </a:p>
          <a:p>
            <a:endParaRPr lang="en-US" dirty="0"/>
          </a:p>
          <a:p>
            <a:r>
              <a:rPr lang="en-US" b="1" dirty="0"/>
              <a:t>Formula Idea</a:t>
            </a:r>
            <a:endParaRPr lang="en-US" dirty="0"/>
          </a:p>
          <a:p>
            <a:r>
              <a:rPr lang="en-US" dirty="0"/>
              <a:t>Cost = Error between Prediction and Actual Value</a:t>
            </a:r>
          </a:p>
          <a:p>
            <a:endParaRPr lang="en-US" dirty="0"/>
          </a:p>
          <a:p>
            <a:r>
              <a:rPr lang="en-US" b="1" dirty="0"/>
              <a:t>Goal of Model</a:t>
            </a:r>
            <a:endParaRPr lang="en-US" dirty="0"/>
          </a:p>
          <a:p>
            <a:r>
              <a:rPr lang="en-US" dirty="0"/>
              <a:t>👉 Minimize Cost</a:t>
            </a:r>
            <a:br>
              <a:rPr lang="en-US" dirty="0"/>
            </a:br>
            <a:r>
              <a:rPr lang="en-US" dirty="0"/>
              <a:t>👉 Improve Accuracy</a:t>
            </a:r>
          </a:p>
          <a:p>
            <a:endParaRPr lang="en-US" dirty="0"/>
          </a:p>
          <a:p>
            <a:r>
              <a:rPr lang="en-US" b="1" dirty="0"/>
              <a:t>Simple Meaning</a:t>
            </a:r>
            <a:endParaRPr lang="en-US" dirty="0"/>
          </a:p>
          <a:p>
            <a:r>
              <a:rPr lang="en-US" dirty="0"/>
              <a:t>Cost Function = Penalty for Wrong Prediction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C9464-18A7-1B46-05E5-C3EEF3A6C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821" y="3529780"/>
            <a:ext cx="3465753" cy="1594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7806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00A1-C6B2-C600-A042-C70967B07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7" y="0"/>
            <a:ext cx="9144000" cy="1425677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Relationship Summary</a:t>
            </a:r>
            <a:r>
              <a:rPr lang="en-US" sz="3600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0E830-6F81-E000-9710-1474D6529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87" y="1442883"/>
            <a:ext cx="7205808" cy="295578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79F812-C7F8-6CE3-4C25-F14522701589}"/>
              </a:ext>
            </a:extLst>
          </p:cNvPr>
          <p:cNvSpPr txBox="1"/>
          <p:nvPr/>
        </p:nvSpPr>
        <p:spPr>
          <a:xfrm>
            <a:off x="2458065" y="5230450"/>
            <a:ext cx="66859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sng" dirty="0">
                <a:effectLst/>
                <a:latin typeface="system-ui"/>
              </a:rPr>
              <a:t>Remember: ML optimizes the COST, not single errors.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69108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00237-3FF4-0035-419D-3B75039F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" y="1565251"/>
            <a:ext cx="5822997" cy="453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34DCD6-9C6D-959C-C877-2D4A9D538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013" y="1241705"/>
            <a:ext cx="4915586" cy="5534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F4ECCC-5986-7DEA-3027-6036F800B590}"/>
              </a:ext>
            </a:extLst>
          </p:cNvPr>
          <p:cNvSpPr txBox="1"/>
          <p:nvPr/>
        </p:nvSpPr>
        <p:spPr>
          <a:xfrm>
            <a:off x="766918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latin typeface="Arial Narrow" panose="020B0606020202030204" pitchFamily="34" charset="0"/>
              </a:rPr>
              <a:t>Examples of cost function and its affect </a:t>
            </a:r>
          </a:p>
        </p:txBody>
      </p:sp>
    </p:spTree>
    <p:extLst>
      <p:ext uri="{BB962C8B-B14F-4D97-AF65-F5344CB8AC3E}">
        <p14:creationId xmlns:p14="http://schemas.microsoft.com/office/powerpoint/2010/main" val="158666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2A54-E3DD-0C1C-B0C7-5264CD5F0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8" y="225169"/>
            <a:ext cx="9144000" cy="1375031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Optimization Using Derivatives</a:t>
            </a:r>
            <a:r>
              <a:rPr lang="en-US" sz="3600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3870E-7463-84BD-9298-8393B6F64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52" y="1995948"/>
            <a:ext cx="9615948" cy="3261852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From calculus:</a:t>
            </a:r>
          </a:p>
          <a:p>
            <a:pPr algn="l"/>
            <a:endParaRPr lang="en-US" b="1" dirty="0"/>
          </a:p>
          <a:p>
            <a:pPr algn="l"/>
            <a:r>
              <a:rPr lang="en-US" dirty="0"/>
              <a:t>At the point where a function is minimum or maximum, its </a:t>
            </a:r>
            <a:r>
              <a:rPr lang="en-US" b="1" dirty="0"/>
              <a:t>derivative is zero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Machine Learning uses derivatives 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Find where error is lowest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Stop learning at the best point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6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06021-9F79-7BD2-5A68-021BF253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90" y="648928"/>
            <a:ext cx="8348868" cy="4571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363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8D45-E464-A0E1-4E09-33DE07B4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077" y="27663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Example Cost Function Practically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E1804-9044-FD5E-39F2-54EC64DB9471}"/>
              </a:ext>
            </a:extLst>
          </p:cNvPr>
          <p:cNvSpPr txBox="1"/>
          <p:nvPr/>
        </p:nvSpPr>
        <p:spPr>
          <a:xfrm>
            <a:off x="235975" y="1483481"/>
            <a:ext cx="70964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effectLst/>
                <a:latin typeface="system-ui"/>
              </a:rPr>
              <a:t>Let cost function be:</a:t>
            </a:r>
          </a:p>
          <a:p>
            <a:pPr algn="l">
              <a:buNone/>
            </a:pPr>
            <a:endParaRPr lang="en-US" sz="2400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sz="2400" b="1" i="0" dirty="0">
                <a:effectLst/>
                <a:latin typeface="system-ui"/>
              </a:rPr>
              <a:t>Cost = x²</a:t>
            </a:r>
          </a:p>
          <a:p>
            <a:pPr algn="l">
              <a:buNone/>
            </a:pPr>
            <a:endParaRPr lang="en-US" sz="2400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sz="2400" b="0" i="0" dirty="0">
                <a:effectLst/>
                <a:latin typeface="system-ui"/>
              </a:rPr>
              <a:t>This represents how error changes with parameter x.</a:t>
            </a:r>
          </a:p>
          <a:p>
            <a:pPr algn="l">
              <a:buNone/>
            </a:pPr>
            <a:r>
              <a:rPr lang="en-US" sz="2400" b="0" i="0" dirty="0">
                <a:effectLst/>
                <a:latin typeface="system-ui"/>
              </a:rPr>
              <a:t>This function always gives positive values and has one minimum point.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83A9A-3E70-0F00-3CF8-E17F3AC76747}"/>
              </a:ext>
            </a:extLst>
          </p:cNvPr>
          <p:cNvSpPr txBox="1"/>
          <p:nvPr/>
        </p:nvSpPr>
        <p:spPr>
          <a:xfrm>
            <a:off x="324465" y="4230018"/>
            <a:ext cx="6238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F95E9-76C8-4BEF-8484-59F50849F07A}"/>
              </a:ext>
            </a:extLst>
          </p:cNvPr>
          <p:cNvSpPr txBox="1"/>
          <p:nvPr/>
        </p:nvSpPr>
        <p:spPr>
          <a:xfrm>
            <a:off x="1300315" y="4161137"/>
            <a:ext cx="364531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NumPy as np</a:t>
            </a:r>
          </a:p>
          <a:p>
            <a:r>
              <a:rPr lang="en-US" dirty="0"/>
              <a:t>import matplotlib.pyplot as plt</a:t>
            </a:r>
          </a:p>
          <a:p>
            <a:r>
              <a:rPr lang="en-US" dirty="0"/>
              <a:t>x = np.linspace(-10, 10, 100)</a:t>
            </a:r>
          </a:p>
          <a:p>
            <a:r>
              <a:rPr lang="en-US" dirty="0"/>
              <a:t>cost = x**2</a:t>
            </a:r>
          </a:p>
          <a:p>
            <a:r>
              <a:rPr lang="en-US" dirty="0"/>
              <a:t>plt.plot(x, cost)</a:t>
            </a:r>
          </a:p>
          <a:p>
            <a:r>
              <a:rPr lang="en-US" dirty="0"/>
              <a:t>plt.xlabel("Parameter Value")</a:t>
            </a:r>
          </a:p>
          <a:p>
            <a:r>
              <a:rPr lang="en-US" dirty="0"/>
              <a:t>plt.ylabel("Cost")</a:t>
            </a:r>
          </a:p>
          <a:p>
            <a:r>
              <a:rPr lang="en-US" dirty="0"/>
              <a:t>plt.title("Cost Function Curve")</a:t>
            </a:r>
          </a:p>
          <a:p>
            <a:r>
              <a:rPr lang="en-US" dirty="0"/>
              <a:t>plt.show()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6A1DB7-724C-CF8E-2DAC-E43D8628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129" y="1483481"/>
            <a:ext cx="4646983" cy="45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73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0DDB7-975C-C61D-1EAF-BE91D41A0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24" y="88491"/>
            <a:ext cx="6136718" cy="3637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5C6EE7-3B9D-4EB2-AD07-205C782B3725}"/>
              </a:ext>
            </a:extLst>
          </p:cNvPr>
          <p:cNvSpPr txBox="1"/>
          <p:nvPr/>
        </p:nvSpPr>
        <p:spPr>
          <a:xfrm>
            <a:off x="413824" y="39547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6C980-61FB-C05B-B520-5E9AE399AEF8}"/>
              </a:ext>
            </a:extLst>
          </p:cNvPr>
          <p:cNvSpPr txBox="1"/>
          <p:nvPr/>
        </p:nvSpPr>
        <p:spPr>
          <a:xfrm>
            <a:off x="1012723" y="420865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plt.plot(x, cost)</a:t>
            </a:r>
          </a:p>
          <a:p>
            <a:r>
              <a:rPr lang="en-US" dirty="0"/>
              <a:t>plt.scatter(0, 0)</a:t>
            </a:r>
          </a:p>
          <a:p>
            <a:r>
              <a:rPr lang="en-US" dirty="0"/>
              <a:t>plt.xlabel("Parameter Value")</a:t>
            </a:r>
          </a:p>
          <a:p>
            <a:r>
              <a:rPr lang="en-US" dirty="0"/>
              <a:t>plt.ylabel("Cost")</a:t>
            </a:r>
          </a:p>
          <a:p>
            <a:r>
              <a:rPr lang="en-US" dirty="0"/>
              <a:t>plt.title("Minimum Cost Point")</a:t>
            </a:r>
          </a:p>
          <a:p>
            <a:r>
              <a:rPr lang="en-US" dirty="0"/>
              <a:t>plt.show()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9386F-AE9F-A7FE-C690-24FA64655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49" y="84675"/>
            <a:ext cx="5070262" cy="4414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5BC7F7-C0F5-AD13-C6B5-31469FFC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496" y="4687175"/>
            <a:ext cx="5712196" cy="208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5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666A3-C25D-0832-E585-62152A7BA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6" y="0"/>
            <a:ext cx="861809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914543-62A5-32FE-C0ED-CCA710F4D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282" y="1449400"/>
            <a:ext cx="6047595" cy="32757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9975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B02C7-5FF2-4254-F84D-9B44C2F8F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6" y="1081550"/>
            <a:ext cx="11633998" cy="351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3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8EDD5-6C13-52E5-3014-9ADB7CD8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6" y="698089"/>
            <a:ext cx="10129662" cy="57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4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55</TotalTime>
  <Words>529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Calibri Light</vt:lpstr>
      <vt:lpstr>menlo</vt:lpstr>
      <vt:lpstr>system-ui</vt:lpstr>
      <vt:lpstr>Office Theme</vt:lpstr>
      <vt:lpstr>Day 40 – Optimization Problems in Data Science &amp; Machine Learning </vt:lpstr>
      <vt:lpstr>What is Optimization? </vt:lpstr>
      <vt:lpstr>Optimization Difference between 2 modes</vt:lpstr>
      <vt:lpstr>PowerPoint Presentation</vt:lpstr>
      <vt:lpstr>Cost Function¶ </vt:lpstr>
      <vt:lpstr>Relationship Summary¶ </vt:lpstr>
      <vt:lpstr>PowerPoint Presentation</vt:lpstr>
      <vt:lpstr>Optimization Using Derivatives¶ </vt:lpstr>
      <vt:lpstr>PowerPoint Presentation</vt:lpstr>
      <vt:lpstr>Example Cost Function Practically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Charate</dc:creator>
  <cp:lastModifiedBy>Prasad Charate</cp:lastModifiedBy>
  <cp:revision>1</cp:revision>
  <dcterms:created xsi:type="dcterms:W3CDTF">2026-02-18T10:58:46Z</dcterms:created>
  <dcterms:modified xsi:type="dcterms:W3CDTF">2026-02-18T11:54:01Z</dcterms:modified>
</cp:coreProperties>
</file>